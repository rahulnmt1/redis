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PRE-CHECK  (do this before opening dashboard)</a:t>
            </a:r>
          </a:p>
          <a:p>
            <a:r>
              <a:t>  $ docker exec hdfcsec-redis-enterprise redis-cli -p 12000 DBSIZE</a:t>
            </a:r>
          </a:p>
          <a:p>
            <a:r>
              <a:t>    expected: &gt;= 40  (means snapshot completed)</a:t>
            </a:r>
          </a:p>
          <a:p/>
          <a:p>
            <a:r>
              <a:t>EXECUTE</a:t>
            </a:r>
          </a:p>
          <a:p>
            <a:r>
              <a:t>  1. Browser → http://localhost:5050  (dashboard)</a:t>
            </a:r>
          </a:p>
          <a:p>
            <a:r>
              <a:t>  2. Walk the layout:</a:t>
            </a:r>
          </a:p>
          <a:p>
            <a:r>
              <a:t>        - left rail: 10 customers</a:t>
            </a:r>
          </a:p>
          <a:p>
            <a:r>
              <a:t>        - middle: holdings + KPIs</a:t>
            </a:r>
          </a:p>
          <a:p>
            <a:r>
              <a:t>        - right: latency panel + RDI pipeline metrics</a:t>
            </a:r>
          </a:p>
          <a:p>
            <a:r>
              <a:t>  3. Click 'HS0010001 — Rajesh Kumar Sharma'  (retail)</a:t>
            </a:r>
          </a:p>
          <a:p>
            <a:r>
              <a:t>        Point at refresh time on the right card. Should be &lt; 5 ms.</a:t>
            </a:r>
          </a:p>
          <a:p>
            <a:r>
              <a:t>  4. Click 'HS0010002 — Anita Patel'         (HNI)</a:t>
            </a:r>
          </a:p>
          <a:p>
            <a:r>
              <a:t>  5. Click 'HS0010003 — Sunil Mehra'         (UHNI)</a:t>
            </a:r>
          </a:p>
          <a:p/>
          <a:p>
            <a:r>
              <a:t>TALK</a:t>
            </a:r>
          </a:p>
          <a:p>
            <a:r>
              <a:t>  - 'I haven't run any setup command in front of you. The stack came</a:t>
            </a:r>
          </a:p>
          <a:p>
            <a:r>
              <a:t>     up 20 minutes ago and RDI snapshotted every selected table into</a:t>
            </a:r>
          </a:p>
          <a:p>
            <a:r>
              <a:t>     Redis before this meeting. None of these reads ever hit Postgres.'</a:t>
            </a:r>
          </a:p>
          <a:p>
            <a:r>
              <a:t>  - 'In your production rollout, this is the day-1 step you run once</a:t>
            </a:r>
          </a:p>
          <a:p>
            <a:r>
              <a:t>     during cutover. After it completes, every user request is hot.'</a:t>
            </a:r>
          </a:p>
          <a:p/>
          <a:p>
            <a:r>
              <a:t>BACKUP if it's empty</a:t>
            </a:r>
          </a:p>
          <a:p>
            <a:r>
              <a:t>  $ docker logs --tail 30 hdfcsec-rdi-processor   # look for JSON.SET</a:t>
            </a:r>
          </a:p>
          <a:p>
            <a:r>
              <a:t>  $ ./scripts/verify-redis.sh</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PRE-OPEN  (terminal tab 1, kept open from setup)</a:t>
            </a:r>
          </a:p>
          <a:p>
            <a:r>
              <a:t>  $ docker exec -it hdfcsec-postgres psql -U postgres hdfcsec</a:t>
            </a:r>
          </a:p>
          <a:p/>
          <a:p>
            <a:r>
              <a:t>EXECUTE  -- in psql</a:t>
            </a:r>
          </a:p>
          <a:p>
            <a:r>
              <a:t>  1. Show baseline trades:</a:t>
            </a:r>
          </a:p>
          <a:p>
            <a:r>
              <a:t>       SELECT trade_id, security_id, side, quantity, price, executed_at</a:t>
            </a:r>
          </a:p>
          <a:p>
            <a:r>
              <a:t>       FROM portfolio.trade</a:t>
            </a:r>
          </a:p>
          <a:p>
            <a:r>
              <a:t>       WHERE customer_id=10001</a:t>
            </a:r>
          </a:p>
          <a:p>
            <a:r>
              <a:t>       ORDER BY executed_at DESC LIMIT 3;</a:t>
            </a:r>
          </a:p>
          <a:p/>
          <a:p>
            <a:r>
              <a:t>  2. Place the new trade  (this is the moment of truth):</a:t>
            </a:r>
          </a:p>
          <a:p>
            <a:r>
              <a:t>       INSERT INTO portfolio.trade</a:t>
            </a:r>
          </a:p>
          <a:p>
            <a:r>
              <a:t>         (trade_id, customer_id, security_id, side, quantity, price,</a:t>
            </a:r>
          </a:p>
          <a:p>
            <a:r>
              <a:t>          trade_value, brokerage, order_id, exchange, executed_at)</a:t>
            </a:r>
          </a:p>
          <a:p>
            <a:r>
              <a:t>       VALUES (nextval('portfolio.trade_id_seq'),</a:t>
            </a:r>
          </a:p>
          <a:p>
            <a:r>
              <a:t>               10001, 1001, 'BUY',</a:t>
            </a:r>
          </a:p>
          <a:p>
            <a:r>
              <a:t>               10, 2945.50, 29455.00, 14.73,</a:t>
            </a:r>
          </a:p>
          <a:p>
            <a:r>
              <a:t>               'DEMO-LIVE-001', 'NSE', now());</a:t>
            </a:r>
          </a:p>
          <a:p/>
          <a:p>
            <a:r>
              <a:t>  3. (Optional, makes the holding KPI react too):</a:t>
            </a:r>
          </a:p>
          <a:p>
            <a:r>
              <a:t>       UPDATE portfolio.holding</a:t>
            </a:r>
          </a:p>
          <a:p>
            <a:r>
              <a:t>          SET quantity = quantity + 10,</a:t>
            </a:r>
          </a:p>
          <a:p>
            <a:r>
              <a:t>              invested_value = (quantity + 10) * avg_buy_price,</a:t>
            </a:r>
          </a:p>
          <a:p>
            <a:r>
              <a:t>              updated_at = now()</a:t>
            </a:r>
          </a:p>
          <a:p>
            <a:r>
              <a:t>        WHERE customer_id = 10001 AND security_id = 1001;</a:t>
            </a:r>
          </a:p>
          <a:p/>
          <a:p>
            <a:r>
              <a:t>SWITCH to dashboard tab (HS0010001 already selected). Within 1-2 s:</a:t>
            </a:r>
          </a:p>
          <a:p>
            <a:r>
              <a:t>  - Recent trade stream shows new BUY  (order_id DEMO-LIVE-001)</a:t>
            </a:r>
          </a:p>
          <a:p>
            <a:r>
              <a:t>  - RDI pipeline streams card: trade count +1</a:t>
            </a:r>
          </a:p>
          <a:p>
            <a:r>
              <a:t>  - If you ran step 3: RELIANCE holding qty + invested value jump</a:t>
            </a:r>
          </a:p>
          <a:p/>
          <a:p>
            <a:r>
              <a:t>TALK</a:t>
            </a:r>
          </a:p>
          <a:p>
            <a:r>
              <a:t>  - 'I did one INSERT into Postgres. No app code, no cache.invalidate(),</a:t>
            </a:r>
          </a:p>
          <a:p>
            <a:r>
              <a:t>     no message queue. RDI's CDC saw the WAL entry, transformed it via</a:t>
            </a:r>
          </a:p>
          <a:p>
            <a:r>
              <a:t>     trade.yaml, and wrote into Redis as a stream entry + JSON doc.'</a:t>
            </a:r>
          </a:p>
          <a:p>
            <a:r>
              <a:t>  - 'In your environment this insert would happen via the OMS, not by</a:t>
            </a:r>
          </a:p>
          <a:p>
            <a:r>
              <a:t>     hand. The path from OMS to dashboard is identical.'</a:t>
            </a:r>
          </a:p>
          <a:p/>
          <a:p>
            <a:r>
              <a:t>FALLBACK if nothing appears within 5 s</a:t>
            </a:r>
          </a:p>
          <a:p>
            <a:r>
              <a:t>  $ docker logs --tail 20 hdfcsec-rdi-processor</a:t>
            </a:r>
          </a:p>
          <a:p>
            <a:r>
              <a:t>  $ docker logs --tail 20 hdfcsec-debezium</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EXECUTE  (terminal tab 2)</a:t>
            </a:r>
          </a:p>
          <a:p>
            <a:r>
              <a:t>  $ ./scripts/run-simulation.sh</a:t>
            </a:r>
          </a:p>
          <a:p>
            <a:r>
              <a:t>    defaults: ~5 trades/sec  +  ~10 price ticks/sec  for 5 min</a:t>
            </a:r>
          </a:p>
          <a:p>
            <a:r>
              <a:t>    tunables in env:  TRADES_PER_SEC  PRICES_PER_SEC  DURATION</a:t>
            </a:r>
          </a:p>
          <a:p/>
          <a:p>
            <a:r>
              <a:t>DURING  (let it run 60-90 s before commenting)</a:t>
            </a:r>
          </a:p>
          <a:p>
            <a:r>
              <a:t>  - switch to dashboard</a:t>
            </a:r>
          </a:p>
          <a:p>
            <a:r>
              <a:t>  - point at Day-% column changing  (prices)</a:t>
            </a:r>
          </a:p>
          <a:p>
            <a:r>
              <a:t>  - point at RDI pipeline streams card incrementing visibly</a:t>
            </a:r>
          </a:p>
          <a:p>
            <a:r>
              <a:t>  - point at the trade stream panel growing</a:t>
            </a:r>
          </a:p>
          <a:p/>
          <a:p>
            <a:r>
              <a:t>STOP  (when you're ready to move on)</a:t>
            </a:r>
          </a:p>
          <a:p>
            <a:r>
              <a:t>  Ctrl-C in terminal tab 2.  Stack stays healthy — simulator</a:t>
            </a:r>
          </a:p>
          <a:p>
            <a:r>
              <a:t>  doesn't need to be running for the rest of the demo.</a:t>
            </a:r>
          </a:p>
          <a:p>
            <a:r>
              <a:t>  (You can also just leave it running — it's lightweight.)</a:t>
            </a:r>
          </a:p>
          <a:p/>
          <a:p>
            <a:r>
              <a:t>TALK</a:t>
            </a:r>
          </a:p>
          <a:p>
            <a:r>
              <a:t>  - 'This is peak-hour for a mid-tier Indian broker. ~5 trades/sec</a:t>
            </a:r>
          </a:p>
          <a:p>
            <a:r>
              <a:t>     across 10 customers, ~10 price ticks/sec across 20 securities.'</a:t>
            </a:r>
          </a:p>
          <a:p>
            <a:r>
              <a:t>  - 'On real production hardware this scales linearly. We have</a:t>
            </a:r>
          </a:p>
          <a:p>
            <a:r>
              <a:t>     financial-services customers running 30-50k events/sec through</a:t>
            </a:r>
          </a:p>
          <a:p>
            <a:r>
              <a:t>     a single RDI active node.'</a:t>
            </a:r>
          </a:p>
          <a:p>
            <a:r>
              <a:t>  - 'Note nothing on the dashboard is slowing down — Redis serves</a:t>
            </a:r>
          </a:p>
          <a:p>
            <a:r>
              <a:t>     reads in microseconds regardless of write rate.'</a:t>
            </a:r>
          </a:p>
          <a:p/>
          <a:p>
            <a:r>
              <a:t>OBSERVABILITY  (only if asked)</a:t>
            </a:r>
          </a:p>
          <a:p>
            <a:r>
              <a:t>  $ docker exec hdfcsec-redis-rdi redis-cli -p 12001 XLEN \</a:t>
            </a:r>
          </a:p>
          <a:p>
            <a:r>
              <a:t>      hdfcsec.portfolio.trade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EXECUTE</a:t>
            </a:r>
          </a:p>
          <a:p>
            <a:r>
              <a:t>  - on dashboard, scroll to Latency panel  (right column)</a:t>
            </a:r>
          </a:p>
          <a:p>
            <a:r>
              <a:t>  - click 'Run again' three times</a:t>
            </a:r>
          </a:p>
          <a:p>
            <a:r>
              <a:t>  - typical:  PostgreSQL ~5 ms  ·  Redis ~1 ms  ·  4-8x speedup</a:t>
            </a:r>
          </a:p>
          <a:p/>
          <a:p>
            <a:r>
              <a:t>TALK</a:t>
            </a:r>
          </a:p>
          <a:p>
            <a:r>
              <a:t>  - 'These are end-to-end from the app's perspective — connection</a:t>
            </a:r>
          </a:p>
          <a:p>
            <a:r>
              <a:t>     setup, query, deserialise. Redis is consistently 4-8x faster.'</a:t>
            </a:r>
          </a:p>
          <a:p>
            <a:r>
              <a:t>  - 'On your production hardware the absolute numbers will differ,</a:t>
            </a:r>
          </a:p>
          <a:p>
            <a:r>
              <a:t>     but the ratio holds. Ratios compound under load.'</a:t>
            </a:r>
          </a:p>
          <a:p/>
          <a:p>
            <a:r>
              <a:t>DO  NOT  RUN  benchmark.sh  LIVE  unless you have a deeply</a:t>
            </a:r>
          </a:p>
          <a:p>
            <a:r>
              <a:t>technical audience and 10 minutes to explain it.</a:t>
            </a:r>
          </a:p>
          <a:p>
            <a:r>
              <a:t>  - It uses persistent Postgres connections (no setup cost)</a:t>
            </a:r>
          </a:p>
          <a:p>
            <a:r>
              <a:t>  - On a laptop with hot buffers, Postgres CAN look faster for</a:t>
            </a:r>
          </a:p>
          <a:p>
            <a:r>
              <a:t>    a tiny dataset. That is an honest data point, not the right</a:t>
            </a:r>
          </a:p>
          <a:p>
            <a:r>
              <a:t>    one to lead with.</a:t>
            </a:r>
          </a:p>
          <a:p/>
          <a:p>
            <a:r>
              <a:t>IF ASKED about benchmark.sh</a:t>
            </a:r>
          </a:p>
          <a:p>
            <a:r>
              <a:t>  - 'On a laptop with the entire dataset in Postgres shared buffers</a:t>
            </a:r>
          </a:p>
          <a:p>
            <a:r>
              <a:t>     and a warm connection pool, Postgres can win small synthetic</a:t>
            </a:r>
          </a:p>
          <a:p>
            <a:r>
              <a:t>     benchmarks. The numbers that matter come from production:</a:t>
            </a:r>
          </a:p>
          <a:p>
            <a:r>
              <a:t>     Oracle CPU when 5,000 users hit the portfolio screen at 9:15.</a:t>
            </a:r>
          </a:p>
          <a:p>
            <a:r>
              <a:t>     Postgres queues, Redis scales. We will measure exactly that</a:t>
            </a:r>
          </a:p>
          <a:p>
            <a:r>
              <a:t>     in the PoC.'</a:t>
            </a:r>
          </a:p>
          <a:p/>
          <a:p>
            <a:r>
              <a:t>REFERENCE  (offline only)</a:t>
            </a:r>
          </a:p>
          <a:p>
            <a:r>
              <a:t>  $ ./scripts/benchmark.sh</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 Browser (data view)  ~2 min</a:t>
            </a:r>
          </a:p>
          <a:p>
            <a:r>
              <a:t>  Open http://localhost:5540  → 'Portfolio cache (target)' connection</a:t>
            </a:r>
          </a:p>
          <a:p>
            <a:r>
              <a:t>  Filter:  holding:10001:*    → click holding:10001:1001  → JSON tree</a:t>
            </a:r>
          </a:p>
          <a:p>
            <a:r>
              <a:t>  Filter:  trades:10001       → click → STREAM view</a:t>
            </a:r>
          </a:p>
          <a:p>
            <a:r>
              <a:t>  Filter:  price:*            → click price:1001         → HASH view</a:t>
            </a:r>
          </a:p>
          <a:p/>
          <a:p>
            <a:r>
              <a:t>  Switch connection to 'RDI state DB'</a:t>
            </a:r>
          </a:p>
          <a:p>
            <a:r>
              <a:t>  Filter:  hdfcsec.portfolio.*  → 5 streams, one per source table</a:t>
            </a:r>
          </a:p>
          <a:p>
            <a:r>
              <a:t>  Click one → STREAM view → expand an entry → show Debezium</a:t>
            </a:r>
          </a:p>
          <a:p>
            <a:r>
              <a:t>    CDC envelope JSON (before / after / op / source / ts_ms)</a:t>
            </a:r>
          </a:p>
          <a:p/>
          <a:p>
            <a:r>
              <a:t>PART 2 — RDI tab  ~3 min</a:t>
            </a:r>
          </a:p>
          <a:p>
            <a:r>
              <a:t>  Click 'Redis Data Integration' icon on left rail of Insight</a:t>
            </a:r>
          </a:p>
          <a:p>
            <a:r>
              <a:t>  If not yet added, click 'Let's connect to RDI':</a:t>
            </a:r>
          </a:p>
          <a:p>
            <a:r>
              <a:t>        RDI Alias  =  hdfcsec-rdi-demo</a:t>
            </a:r>
          </a:p>
          <a:p>
            <a:r>
              <a:t>        URL        =  https://rdi-api</a:t>
            </a:r>
          </a:p>
          <a:p>
            <a:r>
              <a:t>        Username   =  default</a:t>
            </a:r>
          </a:p>
          <a:p>
            <a:r>
              <a:t>        Password   =  rdi_demo_pass</a:t>
            </a:r>
          </a:p>
          <a:p>
            <a:r>
              <a:t>  Click 'Add Endpoint' → click into the new instance.</a:t>
            </a:r>
          </a:p>
          <a:p/>
          <a:p>
            <a:r>
              <a:t>  Walk three views:</a:t>
            </a:r>
          </a:p>
          <a:p>
            <a:r>
              <a:t>    1. Pipeline Management</a:t>
            </a:r>
          </a:p>
          <a:p>
            <a:r>
              <a:t>         - left pane: config.yaml + 5 jobs/*.yaml</a:t>
            </a:r>
          </a:p>
          <a:p>
            <a:r>
              <a:t>         - click holding.yaml — show YAML editor</a:t>
            </a:r>
          </a:p>
          <a:p>
            <a:r>
              <a:t>         - 'this is the file we commit to git'</a:t>
            </a:r>
          </a:p>
          <a:p>
            <a:r>
              <a:t>    2. Test Connection (bottom right of editor)</a:t>
            </a:r>
          </a:p>
          <a:p>
            <a:r>
              <a:t>         - both target and source come back green</a:t>
            </a:r>
          </a:p>
          <a:p>
            <a:r>
              <a:t>         - 'Insight is asking RDI to validate against real DBs</a:t>
            </a:r>
          </a:p>
          <a:p>
            <a:r>
              <a:t>            BEFORE deploy. Zero risk of bad config in prod.'</a:t>
            </a:r>
          </a:p>
          <a:p>
            <a:r>
              <a:t>    3. Analytics tab</a:t>
            </a:r>
          </a:p>
          <a:p>
            <a:r>
              <a:t>         - throughput, 5 CDC streams, processed counts</a:t>
            </a:r>
          </a:p>
          <a:p>
            <a:r>
              <a:t>         - snapshot status: completed</a:t>
            </a:r>
          </a:p>
          <a:p>
            <a:r>
              <a:t>         - refresh interval: 5 s</a:t>
            </a:r>
          </a:p>
          <a:p/>
          <a:p>
            <a:r>
              <a:t>TALK</a:t>
            </a:r>
          </a:p>
          <a:p>
            <a:r>
              <a:t>  - 'Same tool, same UI, in dev / staging / prod. Free with Redis</a:t>
            </a:r>
          </a:p>
          <a:p>
            <a:r>
              <a:t>     Enterprise. Your engineers already know it.'</a:t>
            </a:r>
          </a:p>
          <a:p>
            <a:r>
              <a:t>  - 'The pipeline is observable from the moment Debezium captures</a:t>
            </a:r>
          </a:p>
          <a:p>
            <a:r>
              <a:t>     an event until it lands in the target. Lag, throughput, DLQ —</a:t>
            </a:r>
          </a:p>
          <a:p>
            <a:r>
              <a:t>     all here, all queryable.'</a:t>
            </a:r>
          </a:p>
          <a:p/>
          <a:p>
            <a:r>
              <a:t>DISCLOSURE if a sharp engineer asks</a:t>
            </a:r>
          </a:p>
          <a:p>
            <a:r>
              <a:t>  - The Deploy / Start / Stop / Reset buttons are no-ops in THIS</a:t>
            </a:r>
          </a:p>
          <a:p>
            <a:r>
              <a:t>    demo because the pipeline is already running via docker-compose.</a:t>
            </a:r>
          </a:p>
          <a:p>
            <a:r>
              <a:t>  - In production they trigger the RDI control plane API to roll</a:t>
            </a:r>
          </a:p>
          <a:p>
            <a:r>
              <a:t>    the pipeline; same UX.</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EXECUTE  -- in psql terminal tab 1</a:t>
            </a:r>
          </a:p>
          <a:p>
            <a:r>
              <a:t>  1. Add the column:</a:t>
            </a:r>
          </a:p>
          <a:p>
            <a:r>
              <a:t>       ALTER TABLE portfolio.holding</a:t>
            </a:r>
          </a:p>
          <a:p>
            <a:r>
              <a:t>         ADD COLUMN strategy_tag VARCHAR(40);</a:t>
            </a:r>
          </a:p>
          <a:p/>
          <a:p>
            <a:r>
              <a:t>  2. Update some rows so the new column ends up in the WAL:</a:t>
            </a:r>
          </a:p>
          <a:p>
            <a:r>
              <a:t>       UPDATE portfolio.holding</a:t>
            </a:r>
          </a:p>
          <a:p>
            <a:r>
              <a:t>          SET strategy_tag = 'LONG_TERM'</a:t>
            </a:r>
          </a:p>
          <a:p>
            <a:r>
              <a:t>        WHERE customer_id = 10001;</a:t>
            </a:r>
          </a:p>
          <a:p/>
          <a:p>
            <a:r>
              <a:t>  (IMPORTANT: in Postgres 16+ a bare ALTER doesn't write to the</a:t>
            </a:r>
          </a:p>
          <a:p>
            <a:r>
              <a:t>   WAL by itself — you need a row UPDATE for CDC to see it.)</a:t>
            </a:r>
          </a:p>
          <a:p/>
          <a:p>
            <a:r>
              <a:t>VERIFY  -- in another terminal</a:t>
            </a:r>
          </a:p>
          <a:p>
            <a:r>
              <a:t>  $ docker exec hdfcsec-redis-enterprise redis-cli -p 12000 \</a:t>
            </a:r>
          </a:p>
          <a:p>
            <a:r>
              <a:t>       JSON.GET holding:10001:1001 $</a:t>
            </a:r>
          </a:p>
          <a:p>
            <a:r>
              <a:t>    expected: the JSON now contains "strategy_tag":"LONG_TERM"</a:t>
            </a:r>
          </a:p>
          <a:p/>
          <a:p>
            <a:r>
              <a:t>TALK</a:t>
            </a:r>
          </a:p>
          <a:p>
            <a:r>
              <a:t>  - 'No pipeline restart. No deploy. No code change. New columns</a:t>
            </a:r>
          </a:p>
          <a:p>
            <a:r>
              <a:t>     auto-propagate.'</a:t>
            </a:r>
          </a:p>
          <a:p>
            <a:r>
              <a:t>  - 'The opposite — removing or masking a column for compliance —</a:t>
            </a:r>
          </a:p>
          <a:p>
            <a:r>
              <a:t>     is a 3-line YAML transform. We do that in the PoC against</a:t>
            </a:r>
          </a:p>
          <a:p>
            <a:r>
              <a:t>     real PII columns like PAN and Aadhaar.'</a:t>
            </a:r>
          </a:p>
          <a:p/>
          <a:p>
            <a:r>
              <a:t>OPTIONAL deep-dive  (only if architects push on schema evolution)</a:t>
            </a:r>
          </a:p>
          <a:p>
            <a:r>
              <a:t>  - Renames / type-narrowing: RDI surfaces a 'schema drift' event</a:t>
            </a:r>
          </a:p>
          <a:p>
            <a:r>
              <a:t>    in the DLQ; you decide whether to accept or reject.</a:t>
            </a:r>
          </a:p>
          <a:p>
            <a:r>
              <a:t>  - Drops: the column simply stops appearing in new writes;</a:t>
            </a:r>
          </a:p>
          <a:p>
            <a:r>
              <a:t>    existing keys are untouched until next change.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for the closing exchange after Q &amp; A.</a:t>
            </a:r>
          </a:p>
          <a:p/>
          <a:p>
            <a:r>
              <a:t>Anchor the conversation on these three numbers — they map to</a:t>
            </a:r>
          </a:p>
          <a:p>
            <a:r>
              <a:t>the three buyer constituencies in HDFC Sec:</a:t>
            </a:r>
          </a:p>
          <a:p>
            <a:r>
              <a:t>  - P95 latency      → CTO / VP Engineering</a:t>
            </a:r>
          </a:p>
          <a:p>
            <a:r>
              <a:t>  - Oracle CPU %↓    → CFO  / IT Finance</a:t>
            </a:r>
          </a:p>
          <a:p>
            <a:r>
              <a:t>  - Eng hours / week → Engineering Manager / Tech Lead</a:t>
            </a:r>
          </a:p>
          <a:p/>
          <a:p>
            <a:r>
              <a:t>ASK FOR</a:t>
            </a:r>
          </a:p>
          <a:p>
            <a:r>
              <a:t>  1. A name + email for the PoC technical lead on their side</a:t>
            </a:r>
          </a:p>
          <a:p>
            <a:r>
              <a:t>  2. A read-only Oracle clone (or a willingness to use Postgres</a:t>
            </a:r>
          </a:p>
          <a:p>
            <a:r>
              <a:t>     for the first iteration)</a:t>
            </a:r>
          </a:p>
          <a:p>
            <a:r>
              <a:t>  3. A target 2-week window for the design session</a:t>
            </a:r>
          </a:p>
          <a:p/>
          <a:p>
            <a:r>
              <a:t>FOLLOW-UP commitments to make on the call</a:t>
            </a:r>
          </a:p>
          <a:p>
            <a:r>
              <a:t>  - Send the SOC 2 + architecture docs by EOD</a:t>
            </a:r>
          </a:p>
          <a:p>
            <a:r>
              <a:t>  - Send a TCO worksheet template within 48 h</a:t>
            </a:r>
          </a:p>
          <a:p>
            <a:r>
              <a:t>  - Schedule the design session within 5 working days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256032" cy="256032"/>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292608"/>
            <a:ext cx="2743200" cy="457200"/>
          </a:xfrm>
          <a:prstGeom prst="rect">
            <a:avLst/>
          </a:prstGeom>
          <a:noFill/>
        </p:spPr>
        <p:txBody>
          <a:bodyPr wrap="square" lIns="0" rIns="0" tIns="0" bIns="0" anchor="t">
            <a:spAutoFit/>
          </a:bodyPr>
          <a:lstStyle/>
          <a:p>
            <a:pPr algn="l"/>
            <a:r>
              <a:rPr sz="2400" b="1" i="0">
                <a:solidFill>
                  <a:srgbClr val="FFFFFF"/>
                </a:solidFill>
                <a:latin typeface="Space Grotesk"/>
              </a:rPr>
              <a:t>redis</a:t>
            </a:r>
          </a:p>
        </p:txBody>
      </p:sp>
      <p:sp>
        <p:nvSpPr>
          <p:cNvPr id="5" name="Rounded Rectangle 4"/>
          <p:cNvSpPr/>
          <p:nvPr/>
        </p:nvSpPr>
        <p:spPr>
          <a:xfrm>
            <a:off x="548640" y="2468880"/>
            <a:ext cx="1920240" cy="411480"/>
          </a:xfrm>
          <a:prstGeom prst="roundRect">
            <a:avLst>
              <a:gd name="adj" fmla="val 50000"/>
            </a:avLst>
          </a:prstGeom>
          <a:solidFill>
            <a:srgbClr val="DCF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468880"/>
            <a:ext cx="1920240" cy="411480"/>
          </a:xfrm>
          <a:prstGeom prst="rect">
            <a:avLst/>
          </a:prstGeom>
          <a:noFill/>
        </p:spPr>
        <p:txBody>
          <a:bodyPr wrap="square" lIns="0" rIns="0" tIns="0" bIns="0" anchor="ctr">
            <a:spAutoFit/>
          </a:bodyPr>
          <a:lstStyle/>
          <a:p>
            <a:pPr algn="ctr"/>
            <a:r>
              <a:rPr sz="1100" b="1" i="0">
                <a:solidFill>
                  <a:srgbClr val="091A23"/>
                </a:solidFill>
                <a:latin typeface="Space Mono"/>
              </a:rPr>
              <a:t>LIVE DEMO  ·  ON THIS LAPTOP</a:t>
            </a:r>
          </a:p>
        </p:txBody>
      </p:sp>
      <p:sp>
        <p:nvSpPr>
          <p:cNvPr id="7" name="TextBox 6"/>
          <p:cNvSpPr txBox="1"/>
          <p:nvPr/>
        </p:nvSpPr>
        <p:spPr>
          <a:xfrm>
            <a:off x="548640" y="3017520"/>
            <a:ext cx="10972800" cy="1280160"/>
          </a:xfrm>
          <a:prstGeom prst="rect">
            <a:avLst/>
          </a:prstGeom>
          <a:noFill/>
        </p:spPr>
        <p:txBody>
          <a:bodyPr wrap="square" lIns="0" rIns="0" tIns="0" bIns="0" anchor="t">
            <a:spAutoFit/>
          </a:bodyPr>
          <a:lstStyle/>
          <a:p>
            <a:pPr algn="l"/>
            <a:r>
              <a:rPr sz="6400" b="1" i="0">
                <a:solidFill>
                  <a:srgbClr val="FFFFFF"/>
                </a:solidFill>
                <a:latin typeface="Space Grotesk"/>
              </a:rPr>
              <a:t>Redis Data Integration</a:t>
            </a:r>
          </a:p>
        </p:txBody>
      </p:sp>
      <p:sp>
        <p:nvSpPr>
          <p:cNvPr id="8" name="Rectangle 7"/>
          <p:cNvSpPr/>
          <p:nvPr/>
        </p:nvSpPr>
        <p:spPr>
          <a:xfrm>
            <a:off x="548640" y="4160520"/>
            <a:ext cx="1463040" cy="6400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343400"/>
            <a:ext cx="10972800" cy="548640"/>
          </a:xfrm>
          <a:prstGeom prst="rect">
            <a:avLst/>
          </a:prstGeom>
          <a:noFill/>
        </p:spPr>
        <p:txBody>
          <a:bodyPr wrap="square" lIns="0" rIns="0" tIns="0" bIns="0" anchor="t">
            <a:spAutoFit/>
          </a:bodyPr>
          <a:lstStyle/>
          <a:p>
            <a:pPr algn="l"/>
            <a:r>
              <a:rPr sz="2200" b="0" i="0">
                <a:solidFill>
                  <a:srgbClr val="B9C2C6"/>
                </a:solidFill>
                <a:latin typeface="Space Grotesk"/>
              </a:rPr>
              <a:t>Real-time portfolio cache for HDFC Securities</a:t>
            </a:r>
          </a:p>
        </p:txBody>
      </p:sp>
      <p:sp>
        <p:nvSpPr>
          <p:cNvPr id="10" name="TextBox 9"/>
          <p:cNvSpPr txBox="1"/>
          <p:nvPr/>
        </p:nvSpPr>
        <p:spPr>
          <a:xfrm>
            <a:off x="548640" y="4937760"/>
            <a:ext cx="10972800" cy="457200"/>
          </a:xfrm>
          <a:prstGeom prst="rect">
            <a:avLst/>
          </a:prstGeom>
          <a:noFill/>
        </p:spPr>
        <p:txBody>
          <a:bodyPr wrap="square" lIns="0" rIns="0" tIns="0" bIns="0" anchor="t">
            <a:spAutoFit/>
          </a:bodyPr>
          <a:lstStyle/>
          <a:p>
            <a:pPr algn="l"/>
            <a:r>
              <a:rPr sz="1300" b="0" i="0">
                <a:solidFill>
                  <a:srgbClr val="DCFF1E"/>
                </a:solidFill>
                <a:latin typeface="Space Mono"/>
              </a:rPr>
              <a:t>PostgreSQL  →  Debezium CDC  →  RDI processor  →  Redis Enterprise</a:t>
            </a:r>
          </a:p>
        </p:txBody>
      </p:sp>
      <p:sp>
        <p:nvSpPr>
          <p:cNvPr id="11" name="TextBox 10"/>
          <p:cNvSpPr txBox="1"/>
          <p:nvPr/>
        </p:nvSpPr>
        <p:spPr>
          <a:xfrm>
            <a:off x="548640" y="5943600"/>
            <a:ext cx="7315200" cy="365760"/>
          </a:xfrm>
          <a:prstGeom prst="rect">
            <a:avLst/>
          </a:prstGeom>
          <a:noFill/>
        </p:spPr>
        <p:txBody>
          <a:bodyPr wrap="square" lIns="0" rIns="0" tIns="0" bIns="0" anchor="t">
            <a:spAutoFit/>
          </a:bodyPr>
          <a:lstStyle/>
          <a:p>
            <a:pPr algn="l"/>
            <a:r>
              <a:rPr sz="1100" b="0" i="0">
                <a:solidFill>
                  <a:srgbClr val="8A99A0"/>
                </a:solidFill>
                <a:latin typeface="Space Grotesk"/>
              </a:rPr>
              <a:t>Prepared for the HDFC Securities Architecture &amp; Application team</a:t>
            </a:r>
          </a:p>
        </p:txBody>
      </p:sp>
      <p:sp>
        <p:nvSpPr>
          <p:cNvPr id="12" name="TextBox 11"/>
          <p:cNvSpPr txBox="1"/>
          <p:nvPr/>
        </p:nvSpPr>
        <p:spPr>
          <a:xfrm>
            <a:off x="548640" y="6263640"/>
            <a:ext cx="7315200" cy="274320"/>
          </a:xfrm>
          <a:prstGeom prst="rect">
            <a:avLst/>
          </a:prstGeom>
          <a:noFill/>
        </p:spPr>
        <p:txBody>
          <a:bodyPr wrap="square" lIns="0" rIns="0" tIns="0" bIns="0" anchor="t">
            <a:spAutoFit/>
          </a:bodyPr>
          <a:lstStyle/>
          <a:p>
            <a:pPr algn="l"/>
            <a:r>
              <a:rPr sz="1100" b="0" i="0">
                <a:solidFill>
                  <a:srgbClr val="8A99A0"/>
                </a:solidFill>
                <a:latin typeface="Space Mono"/>
              </a:rPr>
              <a:t>Tuesday  ·  Mumbai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02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CONTEXT</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The portfolio screen: where every retail investor lands</a:t>
            </a:r>
          </a:p>
        </p:txBody>
      </p:sp>
      <p:sp>
        <p:nvSpPr>
          <p:cNvPr id="12" name="TextBox 11"/>
          <p:cNvSpPr txBox="1"/>
          <p:nvPr/>
        </p:nvSpPr>
        <p:spPr>
          <a:xfrm>
            <a:off x="457200" y="1737360"/>
            <a:ext cx="5943600" cy="457200"/>
          </a:xfrm>
          <a:prstGeom prst="rect">
            <a:avLst/>
          </a:prstGeom>
          <a:noFill/>
        </p:spPr>
        <p:txBody>
          <a:bodyPr wrap="square" lIns="0" rIns="0" tIns="0" bIns="0" anchor="t">
            <a:spAutoFit/>
          </a:bodyPr>
          <a:lstStyle/>
          <a:p>
            <a:pPr algn="l"/>
            <a:r>
              <a:rPr sz="1400" b="0" i="0">
                <a:solidFill>
                  <a:srgbClr val="163341"/>
                </a:solidFill>
                <a:latin typeface="Space Grotesk"/>
              </a:rPr>
              <a:t>HDFC Securities serves millions of demat clients —</a:t>
            </a:r>
          </a:p>
          <a:p>
            <a:pPr algn="l"/>
            <a:r>
              <a:rPr sz="1400" b="0" i="0">
                <a:solidFill>
                  <a:srgbClr val="163341"/>
                </a:solidFill>
                <a:latin typeface="Space Grotesk"/>
              </a:rPr>
              <a:t>and every one of them lands on the same read:</a:t>
            </a:r>
          </a:p>
        </p:txBody>
      </p:sp>
      <p:sp>
        <p:nvSpPr>
          <p:cNvPr id="13" name="TextBox 12"/>
          <p:cNvSpPr txBox="1"/>
          <p:nvPr/>
        </p:nvSpPr>
        <p:spPr>
          <a:xfrm>
            <a:off x="457200" y="2651760"/>
            <a:ext cx="5943600" cy="1828800"/>
          </a:xfrm>
          <a:prstGeom prst="rect">
            <a:avLst/>
          </a:prstGeom>
          <a:noFill/>
        </p:spPr>
        <p:txBody>
          <a:bodyPr wrap="square" lIns="0" tIns="0">
            <a:spAutoFit/>
          </a:bodyPr>
          <a:lstStyle/>
          <a:p>
            <a:pPr algn="l">
              <a:spcAft>
                <a:spcPts val="600"/>
              </a:spcAft>
            </a:pPr>
            <a:r>
              <a:rPr sz="1300" b="1">
                <a:solidFill>
                  <a:srgbClr val="FF4438"/>
                </a:solidFill>
                <a:latin typeface="Space Mono"/>
              </a:rPr>
              <a:t>■  </a:t>
            </a:r>
            <a:r>
              <a:rPr sz="1500" b="0">
                <a:solidFill>
                  <a:srgbClr val="163341"/>
                </a:solidFill>
                <a:latin typeface="Space Grotesk"/>
              </a:rPr>
              <a:t>“What do I hold today?”</a:t>
            </a:r>
          </a:p>
          <a:p>
            <a:pPr algn="l">
              <a:spcAft>
                <a:spcPts val="600"/>
              </a:spcAft>
            </a:pPr>
            <a:r>
              <a:rPr sz="1300" b="1">
                <a:solidFill>
                  <a:srgbClr val="FF4438"/>
                </a:solidFill>
                <a:latin typeface="Space Mono"/>
              </a:rPr>
              <a:t>■  </a:t>
            </a:r>
            <a:r>
              <a:rPr sz="1500" b="0">
                <a:solidFill>
                  <a:srgbClr val="163341"/>
                </a:solidFill>
                <a:latin typeface="Space Grotesk"/>
              </a:rPr>
              <a:t>“What is my P&amp;L right now?”</a:t>
            </a:r>
          </a:p>
          <a:p>
            <a:pPr algn="l">
              <a:spcAft>
                <a:spcPts val="600"/>
              </a:spcAft>
            </a:pPr>
            <a:r>
              <a:rPr sz="1300" b="1">
                <a:solidFill>
                  <a:srgbClr val="FF4438"/>
                </a:solidFill>
                <a:latin typeface="Space Mono"/>
              </a:rPr>
              <a:t>■  </a:t>
            </a:r>
            <a:r>
              <a:rPr sz="1500" b="0">
                <a:solidFill>
                  <a:srgbClr val="163341"/>
                </a:solidFill>
                <a:latin typeface="Space Grotesk"/>
              </a:rPr>
              <a:t>“Show my last 10 trades.”</a:t>
            </a:r>
          </a:p>
        </p:txBody>
      </p:sp>
      <p:sp>
        <p:nvSpPr>
          <p:cNvPr id="14" name="TextBox 13"/>
          <p:cNvSpPr txBox="1"/>
          <p:nvPr/>
        </p:nvSpPr>
        <p:spPr>
          <a:xfrm>
            <a:off x="457200" y="4069080"/>
            <a:ext cx="5943600" cy="1188720"/>
          </a:xfrm>
          <a:prstGeom prst="rect">
            <a:avLst/>
          </a:prstGeom>
          <a:noFill/>
        </p:spPr>
        <p:txBody>
          <a:bodyPr wrap="square" lIns="0" rIns="0" tIns="0" bIns="0" anchor="t">
            <a:spAutoFit/>
          </a:bodyPr>
          <a:lstStyle/>
          <a:p>
            <a:pPr algn="l"/>
            <a:r>
              <a:rPr sz="1200" b="0" i="0">
                <a:solidFill>
                  <a:srgbClr val="8A99A0"/>
                </a:solidFill>
                <a:latin typeface="Space Grotesk"/>
              </a:rPr>
              <a:t>Each of those reads fans out into joins on Oracle: holdings × security master × live LTP × trade history. During market hours, thousands of identical reads per second ask for the same few thousand customers' data.</a:t>
            </a:r>
          </a:p>
        </p:txBody>
      </p:sp>
      <p:sp>
        <p:nvSpPr>
          <p:cNvPr id="15" name="Rectangle 14"/>
          <p:cNvSpPr/>
          <p:nvPr/>
        </p:nvSpPr>
        <p:spPr>
          <a:xfrm>
            <a:off x="6766560" y="1737360"/>
            <a:ext cx="4937760" cy="352044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66560" y="1737360"/>
            <a:ext cx="164592" cy="352044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1920240"/>
            <a:ext cx="4389120" cy="365760"/>
          </a:xfrm>
          <a:prstGeom prst="rect">
            <a:avLst/>
          </a:prstGeom>
          <a:noFill/>
        </p:spPr>
        <p:txBody>
          <a:bodyPr wrap="square" lIns="0" rIns="0" tIns="0" bIns="0" anchor="t">
            <a:spAutoFit/>
          </a:bodyPr>
          <a:lstStyle/>
          <a:p>
            <a:pPr algn="l"/>
            <a:r>
              <a:rPr sz="1100" b="1" i="0">
                <a:solidFill>
                  <a:srgbClr val="FF4438"/>
                </a:solidFill>
                <a:latin typeface="Space Mono"/>
              </a:rPr>
              <a:t>SYMPTOMS YOU MAY ALREADY SEE</a:t>
            </a:r>
          </a:p>
        </p:txBody>
      </p:sp>
      <p:sp>
        <p:nvSpPr>
          <p:cNvPr id="18" name="TextBox 17"/>
          <p:cNvSpPr txBox="1"/>
          <p:nvPr/>
        </p:nvSpPr>
        <p:spPr>
          <a:xfrm>
            <a:off x="7132320" y="2377440"/>
            <a:ext cx="4389120" cy="269748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Oracle CPU spikes 9:15–10:00 and 14:30–15:30 IST</a:t>
            </a:r>
          </a:p>
          <a:p>
            <a:pPr algn="l">
              <a:spcAft>
                <a:spcPts val="600"/>
              </a:spcAft>
            </a:pPr>
            <a:r>
              <a:rPr sz="1000" b="1">
                <a:solidFill>
                  <a:srgbClr val="FF4438"/>
                </a:solidFill>
                <a:latin typeface="Space Mono"/>
              </a:rPr>
              <a:t>■  </a:t>
            </a:r>
            <a:r>
              <a:rPr sz="1200" b="0">
                <a:solidFill>
                  <a:srgbClr val="163341"/>
                </a:solidFill>
                <a:latin typeface="Space Grotesk"/>
              </a:rPr>
              <a:t>Read-replica licensing grows quarter over quarter</a:t>
            </a:r>
          </a:p>
          <a:p>
            <a:pPr algn="l">
              <a:spcAft>
                <a:spcPts val="600"/>
              </a:spcAft>
            </a:pPr>
            <a:r>
              <a:rPr sz="1000" b="1">
                <a:solidFill>
                  <a:srgbClr val="FF4438"/>
                </a:solidFill>
                <a:latin typeface="Space Mono"/>
              </a:rPr>
              <a:t>■  </a:t>
            </a:r>
            <a:r>
              <a:rPr sz="1200" b="0">
                <a:solidFill>
                  <a:srgbClr val="163341"/>
                </a:solidFill>
                <a:latin typeface="Space Grotesk"/>
              </a:rPr>
              <a:t>Mobile app P95 &gt; 800 ms during peak load</a:t>
            </a:r>
          </a:p>
          <a:p>
            <a:pPr algn="l">
              <a:spcAft>
                <a:spcPts val="600"/>
              </a:spcAft>
            </a:pPr>
            <a:r>
              <a:rPr sz="1000" b="1">
                <a:solidFill>
                  <a:srgbClr val="FF4438"/>
                </a:solidFill>
                <a:latin typeface="Space Mono"/>
              </a:rPr>
              <a:t>■  </a:t>
            </a:r>
            <a:r>
              <a:rPr sz="1200" b="0">
                <a:solidFill>
                  <a:srgbClr val="163341"/>
                </a:solidFill>
                <a:latin typeface="Space Grotesk"/>
              </a:rPr>
              <a:t>Hand-written cache-aside in 6 places — each subtly inconsistent</a:t>
            </a:r>
          </a:p>
        </p:txBody>
      </p:sp>
      <p:sp>
        <p:nvSpPr>
          <p:cNvPr id="19" name="Rectangle 18"/>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TALK TRACK</a:t>
            </a:r>
          </a:p>
        </p:txBody>
      </p:sp>
      <p:sp>
        <p:nvSpPr>
          <p:cNvPr id="22" name="TextBox 21"/>
          <p:cNvSpPr txBox="1"/>
          <p:nvPr/>
        </p:nvSpPr>
        <p:spPr>
          <a:xfrm>
            <a:off x="777240" y="5623560"/>
            <a:ext cx="10972800" cy="594360"/>
          </a:xfrm>
          <a:prstGeom prst="rect">
            <a:avLst/>
          </a:prstGeom>
          <a:noFill/>
        </p:spPr>
        <p:txBody>
          <a:bodyPr wrap="square" lIns="0" rIns="0" tIns="0" bIns="0" anchor="t">
            <a:spAutoFit/>
          </a:bodyPr>
          <a:lstStyle/>
          <a:p>
            <a:pPr algn="l"/>
            <a:r>
              <a:rPr sz="1100" b="0" i="0">
                <a:solidFill>
                  <a:srgbClr val="163341"/>
                </a:solidFill>
                <a:latin typeface="Space Grotesk"/>
              </a:rPr>
              <a:t>Before talking about Redis, let me describe what we hear from brokers in India. The portfolio screen is the busiest entry point in the app. It is mostly reads, mostly the same data, repeated all day. Oracle is right for correctness — wrong for hot-path reads. Brokers respond with vertical scaling, read replicas, or cache-aside. Each path has a cost: licence, latency, or engineering. Sound familiar?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03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PROBLEM STATEMENT</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Why cache-aside fails at portfolio scale</a:t>
            </a:r>
          </a:p>
        </p:txBody>
      </p:sp>
      <p:sp>
        <p:nvSpPr>
          <p:cNvPr id="12" name="Rectangle 11"/>
          <p:cNvSpPr/>
          <p:nvPr/>
        </p:nvSpPr>
        <p:spPr>
          <a:xfrm>
            <a:off x="457200" y="1783080"/>
            <a:ext cx="11247120" cy="4114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74520"/>
            <a:ext cx="3520440" cy="274320"/>
          </a:xfrm>
          <a:prstGeom prst="rect">
            <a:avLst/>
          </a:prstGeom>
          <a:noFill/>
        </p:spPr>
        <p:txBody>
          <a:bodyPr wrap="square" lIns="0" rIns="0" tIns="0" bIns="0" anchor="t">
            <a:spAutoFit/>
          </a:bodyPr>
          <a:lstStyle/>
          <a:p>
            <a:pPr algn="l"/>
            <a:r>
              <a:rPr sz="1100" b="1" i="0">
                <a:solidFill>
                  <a:srgbClr val="FFFFFF"/>
                </a:solidFill>
                <a:latin typeface="Space Mono"/>
              </a:rPr>
              <a:t>CONCERN</a:t>
            </a:r>
          </a:p>
        </p:txBody>
      </p:sp>
      <p:sp>
        <p:nvSpPr>
          <p:cNvPr id="14" name="TextBox 13"/>
          <p:cNvSpPr txBox="1"/>
          <p:nvPr/>
        </p:nvSpPr>
        <p:spPr>
          <a:xfrm>
            <a:off x="4206240" y="1874520"/>
            <a:ext cx="3886200" cy="274320"/>
          </a:xfrm>
          <a:prstGeom prst="rect">
            <a:avLst/>
          </a:prstGeom>
          <a:noFill/>
        </p:spPr>
        <p:txBody>
          <a:bodyPr wrap="square" lIns="0" rIns="0" tIns="0" bIns="0" anchor="t">
            <a:spAutoFit/>
          </a:bodyPr>
          <a:lstStyle/>
          <a:p>
            <a:pPr algn="l"/>
            <a:r>
              <a:rPr sz="1100" b="1" i="0">
                <a:solidFill>
                  <a:srgbClr val="FFFFFF"/>
                </a:solidFill>
                <a:latin typeface="Space Mono"/>
              </a:rPr>
              <a:t>CACHE-ASIDE  (today)</a:t>
            </a:r>
          </a:p>
        </p:txBody>
      </p:sp>
      <p:sp>
        <p:nvSpPr>
          <p:cNvPr id="15" name="TextBox 14"/>
          <p:cNvSpPr txBox="1"/>
          <p:nvPr/>
        </p:nvSpPr>
        <p:spPr>
          <a:xfrm>
            <a:off x="8138159" y="1874520"/>
            <a:ext cx="3749039" cy="274320"/>
          </a:xfrm>
          <a:prstGeom prst="rect">
            <a:avLst/>
          </a:prstGeom>
          <a:noFill/>
        </p:spPr>
        <p:txBody>
          <a:bodyPr wrap="square" lIns="0" rIns="0" tIns="0" bIns="0" anchor="t">
            <a:spAutoFit/>
          </a:bodyPr>
          <a:lstStyle/>
          <a:p>
            <a:pPr algn="l"/>
            <a:r>
              <a:rPr sz="1100" b="1" i="0">
                <a:solidFill>
                  <a:srgbClr val="DCFF1E"/>
                </a:solidFill>
                <a:latin typeface="Space Mono"/>
              </a:rPr>
              <a:t>REDIS DATA INTEGRATION</a:t>
            </a:r>
          </a:p>
        </p:txBody>
      </p:sp>
      <p:sp>
        <p:nvSpPr>
          <p:cNvPr id="16" name="Rectangle 15"/>
          <p:cNvSpPr/>
          <p:nvPr/>
        </p:nvSpPr>
        <p:spPr>
          <a:xfrm>
            <a:off x="457200" y="2194560"/>
            <a:ext cx="112471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304288"/>
            <a:ext cx="3520440" cy="365760"/>
          </a:xfrm>
          <a:prstGeom prst="rect">
            <a:avLst/>
          </a:prstGeom>
          <a:noFill/>
        </p:spPr>
        <p:txBody>
          <a:bodyPr wrap="square" lIns="0" rIns="0" tIns="0" bIns="0" anchor="t">
            <a:spAutoFit/>
          </a:bodyPr>
          <a:lstStyle/>
          <a:p>
            <a:pPr algn="l"/>
            <a:r>
              <a:rPr sz="1200" b="1" i="0">
                <a:solidFill>
                  <a:srgbClr val="091A23"/>
                </a:solidFill>
                <a:latin typeface="Space Grotesk"/>
              </a:rPr>
              <a:t>First request after deploy</a:t>
            </a:r>
          </a:p>
        </p:txBody>
      </p:sp>
      <p:sp>
        <p:nvSpPr>
          <p:cNvPr id="18" name="TextBox 17"/>
          <p:cNvSpPr txBox="1"/>
          <p:nvPr/>
        </p:nvSpPr>
        <p:spPr>
          <a:xfrm>
            <a:off x="4389120" y="2304288"/>
            <a:ext cx="3886200" cy="365760"/>
          </a:xfrm>
          <a:prstGeom prst="rect">
            <a:avLst/>
          </a:prstGeom>
          <a:noFill/>
        </p:spPr>
        <p:txBody>
          <a:bodyPr wrap="square" lIns="0" rIns="0" tIns="0" bIns="0" anchor="t">
            <a:spAutoFit/>
          </a:bodyPr>
          <a:lstStyle/>
          <a:p>
            <a:pPr algn="l"/>
            <a:r>
              <a:rPr sz="1200" b="0" i="0">
                <a:solidFill>
                  <a:srgbClr val="FF5A6C"/>
                </a:solidFill>
                <a:latin typeface="Space Grotesk"/>
              </a:rPr>
              <a:t>✗  Cache miss → Oracle hit</a:t>
            </a:r>
          </a:p>
        </p:txBody>
      </p:sp>
      <p:sp>
        <p:nvSpPr>
          <p:cNvPr id="19" name="TextBox 18"/>
          <p:cNvSpPr txBox="1"/>
          <p:nvPr/>
        </p:nvSpPr>
        <p:spPr>
          <a:xfrm>
            <a:off x="8321039" y="2304288"/>
            <a:ext cx="3749039" cy="365760"/>
          </a:xfrm>
          <a:prstGeom prst="rect">
            <a:avLst/>
          </a:prstGeom>
          <a:noFill/>
        </p:spPr>
        <p:txBody>
          <a:bodyPr wrap="square" lIns="0" rIns="0" tIns="0" bIns="0" anchor="t">
            <a:spAutoFit/>
          </a:bodyPr>
          <a:lstStyle/>
          <a:p>
            <a:pPr algn="l"/>
            <a:r>
              <a:rPr sz="1200" b="0" i="0">
                <a:solidFill>
                  <a:srgbClr val="2ECC71"/>
                </a:solidFill>
                <a:latin typeface="Space Grotesk"/>
              </a:rPr>
              <a:t>✓  Already prefetched</a:t>
            </a:r>
          </a:p>
        </p:txBody>
      </p:sp>
      <p:sp>
        <p:nvSpPr>
          <p:cNvPr id="20" name="Rectangle 19"/>
          <p:cNvSpPr/>
          <p:nvPr/>
        </p:nvSpPr>
        <p:spPr>
          <a:xfrm>
            <a:off x="457200" y="2670048"/>
            <a:ext cx="11247120" cy="47548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779776"/>
            <a:ext cx="3520440" cy="365760"/>
          </a:xfrm>
          <a:prstGeom prst="rect">
            <a:avLst/>
          </a:prstGeom>
          <a:noFill/>
        </p:spPr>
        <p:txBody>
          <a:bodyPr wrap="square" lIns="0" rIns="0" tIns="0" bIns="0" anchor="t">
            <a:spAutoFit/>
          </a:bodyPr>
          <a:lstStyle/>
          <a:p>
            <a:pPr algn="l"/>
            <a:r>
              <a:rPr sz="1200" b="1" i="0">
                <a:solidFill>
                  <a:srgbClr val="091A23"/>
                </a:solidFill>
                <a:latin typeface="Space Grotesk"/>
              </a:rPr>
              <a:t>Update in Oracle</a:t>
            </a:r>
          </a:p>
        </p:txBody>
      </p:sp>
      <p:sp>
        <p:nvSpPr>
          <p:cNvPr id="22" name="TextBox 21"/>
          <p:cNvSpPr txBox="1"/>
          <p:nvPr/>
        </p:nvSpPr>
        <p:spPr>
          <a:xfrm>
            <a:off x="4389120" y="2779776"/>
            <a:ext cx="3886200" cy="365760"/>
          </a:xfrm>
          <a:prstGeom prst="rect">
            <a:avLst/>
          </a:prstGeom>
          <a:noFill/>
        </p:spPr>
        <p:txBody>
          <a:bodyPr wrap="square" lIns="0" rIns="0" tIns="0" bIns="0" anchor="t">
            <a:spAutoFit/>
          </a:bodyPr>
          <a:lstStyle/>
          <a:p>
            <a:pPr algn="l"/>
            <a:r>
              <a:rPr sz="1200" b="0" i="0">
                <a:solidFill>
                  <a:srgbClr val="FF5A6C"/>
                </a:solidFill>
                <a:latin typeface="Space Grotesk"/>
              </a:rPr>
              <a:t>✗  App must invalidate (often forgets)</a:t>
            </a:r>
          </a:p>
        </p:txBody>
      </p:sp>
      <p:sp>
        <p:nvSpPr>
          <p:cNvPr id="23" name="TextBox 22"/>
          <p:cNvSpPr txBox="1"/>
          <p:nvPr/>
        </p:nvSpPr>
        <p:spPr>
          <a:xfrm>
            <a:off x="8321039" y="2779776"/>
            <a:ext cx="3749039" cy="365760"/>
          </a:xfrm>
          <a:prstGeom prst="rect">
            <a:avLst/>
          </a:prstGeom>
          <a:noFill/>
        </p:spPr>
        <p:txBody>
          <a:bodyPr wrap="square" lIns="0" rIns="0" tIns="0" bIns="0" anchor="t">
            <a:spAutoFit/>
          </a:bodyPr>
          <a:lstStyle/>
          <a:p>
            <a:pPr algn="l"/>
            <a:r>
              <a:rPr sz="1200" b="0" i="0">
                <a:solidFill>
                  <a:srgbClr val="2ECC71"/>
                </a:solidFill>
                <a:latin typeface="Space Grotesk"/>
              </a:rPr>
              <a:t>✓  CDC propagates in &lt; 1 s</a:t>
            </a:r>
          </a:p>
        </p:txBody>
      </p:sp>
      <p:sp>
        <p:nvSpPr>
          <p:cNvPr id="24" name="Rectangle 23"/>
          <p:cNvSpPr/>
          <p:nvPr/>
        </p:nvSpPr>
        <p:spPr>
          <a:xfrm>
            <a:off x="457200" y="3145536"/>
            <a:ext cx="112471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255264"/>
            <a:ext cx="3520440" cy="365760"/>
          </a:xfrm>
          <a:prstGeom prst="rect">
            <a:avLst/>
          </a:prstGeom>
          <a:noFill/>
        </p:spPr>
        <p:txBody>
          <a:bodyPr wrap="square" lIns="0" rIns="0" tIns="0" bIns="0" anchor="t">
            <a:spAutoFit/>
          </a:bodyPr>
          <a:lstStyle/>
          <a:p>
            <a:pPr algn="l"/>
            <a:r>
              <a:rPr sz="1200" b="1" i="0">
                <a:solidFill>
                  <a:srgbClr val="091A23"/>
                </a:solidFill>
                <a:latin typeface="Space Grotesk"/>
              </a:rPr>
              <a:t>TTL strategy</a:t>
            </a:r>
          </a:p>
        </p:txBody>
      </p:sp>
      <p:sp>
        <p:nvSpPr>
          <p:cNvPr id="26" name="TextBox 25"/>
          <p:cNvSpPr txBox="1"/>
          <p:nvPr/>
        </p:nvSpPr>
        <p:spPr>
          <a:xfrm>
            <a:off x="4389120" y="3255264"/>
            <a:ext cx="3886200" cy="365760"/>
          </a:xfrm>
          <a:prstGeom prst="rect">
            <a:avLst/>
          </a:prstGeom>
          <a:noFill/>
        </p:spPr>
        <p:txBody>
          <a:bodyPr wrap="square" lIns="0" rIns="0" tIns="0" bIns="0" anchor="t">
            <a:spAutoFit/>
          </a:bodyPr>
          <a:lstStyle/>
          <a:p>
            <a:pPr algn="l"/>
            <a:r>
              <a:rPr sz="1200" b="0" i="0">
                <a:solidFill>
                  <a:srgbClr val="FF5A6C"/>
                </a:solidFill>
                <a:latin typeface="Space Grotesk"/>
              </a:rPr>
              <a:t>✗  Always stale, always wrong window</a:t>
            </a:r>
          </a:p>
        </p:txBody>
      </p:sp>
      <p:sp>
        <p:nvSpPr>
          <p:cNvPr id="27" name="TextBox 26"/>
          <p:cNvSpPr txBox="1"/>
          <p:nvPr/>
        </p:nvSpPr>
        <p:spPr>
          <a:xfrm>
            <a:off x="8321039" y="3255264"/>
            <a:ext cx="3749039" cy="365760"/>
          </a:xfrm>
          <a:prstGeom prst="rect">
            <a:avLst/>
          </a:prstGeom>
          <a:noFill/>
        </p:spPr>
        <p:txBody>
          <a:bodyPr wrap="square" lIns="0" rIns="0" tIns="0" bIns="0" anchor="t">
            <a:spAutoFit/>
          </a:bodyPr>
          <a:lstStyle/>
          <a:p>
            <a:pPr algn="l"/>
            <a:r>
              <a:rPr sz="1200" b="0" i="0">
                <a:solidFill>
                  <a:srgbClr val="2ECC71"/>
                </a:solidFill>
                <a:latin typeface="Space Grotesk"/>
              </a:rPr>
              <a:t>✓  No TTL — cache mirrors DB</a:t>
            </a:r>
          </a:p>
        </p:txBody>
      </p:sp>
      <p:sp>
        <p:nvSpPr>
          <p:cNvPr id="28" name="Rectangle 27"/>
          <p:cNvSpPr/>
          <p:nvPr/>
        </p:nvSpPr>
        <p:spPr>
          <a:xfrm>
            <a:off x="457200" y="3621024"/>
            <a:ext cx="11247120" cy="47548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730752"/>
            <a:ext cx="3520440" cy="365760"/>
          </a:xfrm>
          <a:prstGeom prst="rect">
            <a:avLst/>
          </a:prstGeom>
          <a:noFill/>
        </p:spPr>
        <p:txBody>
          <a:bodyPr wrap="square" lIns="0" rIns="0" tIns="0" bIns="0" anchor="t">
            <a:spAutoFit/>
          </a:bodyPr>
          <a:lstStyle/>
          <a:p>
            <a:pPr algn="l"/>
            <a:r>
              <a:rPr sz="1200" b="1" i="0">
                <a:solidFill>
                  <a:srgbClr val="091A23"/>
                </a:solidFill>
                <a:latin typeface="Space Grotesk"/>
              </a:rPr>
              <a:t>Code in app for cache logic</a:t>
            </a:r>
          </a:p>
        </p:txBody>
      </p:sp>
      <p:sp>
        <p:nvSpPr>
          <p:cNvPr id="30" name="TextBox 29"/>
          <p:cNvSpPr txBox="1"/>
          <p:nvPr/>
        </p:nvSpPr>
        <p:spPr>
          <a:xfrm>
            <a:off x="4389120" y="3730752"/>
            <a:ext cx="3886200" cy="365760"/>
          </a:xfrm>
          <a:prstGeom prst="rect">
            <a:avLst/>
          </a:prstGeom>
          <a:noFill/>
        </p:spPr>
        <p:txBody>
          <a:bodyPr wrap="square" lIns="0" rIns="0" tIns="0" bIns="0" anchor="t">
            <a:spAutoFit/>
          </a:bodyPr>
          <a:lstStyle/>
          <a:p>
            <a:pPr algn="l"/>
            <a:r>
              <a:rPr sz="1200" b="0" i="0">
                <a:solidFill>
                  <a:srgbClr val="FF5A6C"/>
                </a:solidFill>
                <a:latin typeface="Space Grotesk"/>
              </a:rPr>
              <a:t>✗  Sprinkled across 6 repos</a:t>
            </a:r>
          </a:p>
        </p:txBody>
      </p:sp>
      <p:sp>
        <p:nvSpPr>
          <p:cNvPr id="31" name="TextBox 30"/>
          <p:cNvSpPr txBox="1"/>
          <p:nvPr/>
        </p:nvSpPr>
        <p:spPr>
          <a:xfrm>
            <a:off x="8321039" y="3730752"/>
            <a:ext cx="3749039" cy="365760"/>
          </a:xfrm>
          <a:prstGeom prst="rect">
            <a:avLst/>
          </a:prstGeom>
          <a:noFill/>
        </p:spPr>
        <p:txBody>
          <a:bodyPr wrap="square" lIns="0" rIns="0" tIns="0" bIns="0" anchor="t">
            <a:spAutoFit/>
          </a:bodyPr>
          <a:lstStyle/>
          <a:p>
            <a:pPr algn="l"/>
            <a:r>
              <a:rPr sz="1200" b="0" i="0">
                <a:solidFill>
                  <a:srgbClr val="2ECC71"/>
                </a:solidFill>
                <a:latin typeface="Space Grotesk"/>
              </a:rPr>
              <a:t>✓  Zero — declarative YAML</a:t>
            </a:r>
          </a:p>
        </p:txBody>
      </p:sp>
      <p:sp>
        <p:nvSpPr>
          <p:cNvPr id="32" name="Rectangle 31"/>
          <p:cNvSpPr/>
          <p:nvPr/>
        </p:nvSpPr>
        <p:spPr>
          <a:xfrm>
            <a:off x="457200" y="4096512"/>
            <a:ext cx="112471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4206240"/>
            <a:ext cx="3520440" cy="365760"/>
          </a:xfrm>
          <a:prstGeom prst="rect">
            <a:avLst/>
          </a:prstGeom>
          <a:noFill/>
        </p:spPr>
        <p:txBody>
          <a:bodyPr wrap="square" lIns="0" rIns="0" tIns="0" bIns="0" anchor="t">
            <a:spAutoFit/>
          </a:bodyPr>
          <a:lstStyle/>
          <a:p>
            <a:pPr algn="l"/>
            <a:r>
              <a:rPr sz="1200" b="1" i="0">
                <a:solidFill>
                  <a:srgbClr val="091A23"/>
                </a:solidFill>
                <a:latin typeface="Space Grotesk"/>
              </a:rPr>
              <a:t>Adding a new cached table</a:t>
            </a:r>
          </a:p>
        </p:txBody>
      </p:sp>
      <p:sp>
        <p:nvSpPr>
          <p:cNvPr id="34" name="TextBox 33"/>
          <p:cNvSpPr txBox="1"/>
          <p:nvPr/>
        </p:nvSpPr>
        <p:spPr>
          <a:xfrm>
            <a:off x="4389120" y="4206240"/>
            <a:ext cx="3886200" cy="365760"/>
          </a:xfrm>
          <a:prstGeom prst="rect">
            <a:avLst/>
          </a:prstGeom>
          <a:noFill/>
        </p:spPr>
        <p:txBody>
          <a:bodyPr wrap="square" lIns="0" rIns="0" tIns="0" bIns="0" anchor="t">
            <a:spAutoFit/>
          </a:bodyPr>
          <a:lstStyle/>
          <a:p>
            <a:pPr algn="l"/>
            <a:r>
              <a:rPr sz="1200" b="0" i="0">
                <a:solidFill>
                  <a:srgbClr val="FF5A6C"/>
                </a:solidFill>
                <a:latin typeface="Space Grotesk"/>
              </a:rPr>
              <a:t>✗  Engineering sprint</a:t>
            </a:r>
          </a:p>
        </p:txBody>
      </p:sp>
      <p:sp>
        <p:nvSpPr>
          <p:cNvPr id="35" name="TextBox 34"/>
          <p:cNvSpPr txBox="1"/>
          <p:nvPr/>
        </p:nvSpPr>
        <p:spPr>
          <a:xfrm>
            <a:off x="8321039" y="4206240"/>
            <a:ext cx="3749039" cy="365760"/>
          </a:xfrm>
          <a:prstGeom prst="rect">
            <a:avLst/>
          </a:prstGeom>
          <a:noFill/>
        </p:spPr>
        <p:txBody>
          <a:bodyPr wrap="square" lIns="0" rIns="0" tIns="0" bIns="0" anchor="t">
            <a:spAutoFit/>
          </a:bodyPr>
          <a:lstStyle/>
          <a:p>
            <a:pPr algn="l"/>
            <a:r>
              <a:rPr sz="1200" b="0" i="0">
                <a:solidFill>
                  <a:srgbClr val="2ECC71"/>
                </a:solidFill>
                <a:latin typeface="Space Grotesk"/>
              </a:rPr>
              <a:t>✓  +10 lines of YAML</a:t>
            </a:r>
          </a:p>
        </p:txBody>
      </p:sp>
      <p:sp>
        <p:nvSpPr>
          <p:cNvPr id="36" name="Rectangle 35"/>
          <p:cNvSpPr/>
          <p:nvPr/>
        </p:nvSpPr>
        <p:spPr>
          <a:xfrm>
            <a:off x="457200" y="4572000"/>
            <a:ext cx="11247120" cy="475488"/>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681728"/>
            <a:ext cx="3520440" cy="365760"/>
          </a:xfrm>
          <a:prstGeom prst="rect">
            <a:avLst/>
          </a:prstGeom>
          <a:noFill/>
        </p:spPr>
        <p:txBody>
          <a:bodyPr wrap="square" lIns="0" rIns="0" tIns="0" bIns="0" anchor="t">
            <a:spAutoFit/>
          </a:bodyPr>
          <a:lstStyle/>
          <a:p>
            <a:pPr algn="l"/>
            <a:r>
              <a:rPr sz="1200" b="1" i="0">
                <a:solidFill>
                  <a:srgbClr val="091A23"/>
                </a:solidFill>
                <a:latin typeface="Space Grotesk"/>
              </a:rPr>
              <a:t>Disaster recovery</a:t>
            </a:r>
          </a:p>
        </p:txBody>
      </p:sp>
      <p:sp>
        <p:nvSpPr>
          <p:cNvPr id="38" name="TextBox 37"/>
          <p:cNvSpPr txBox="1"/>
          <p:nvPr/>
        </p:nvSpPr>
        <p:spPr>
          <a:xfrm>
            <a:off x="4389120" y="4681728"/>
            <a:ext cx="3886200" cy="365760"/>
          </a:xfrm>
          <a:prstGeom prst="rect">
            <a:avLst/>
          </a:prstGeom>
          <a:noFill/>
        </p:spPr>
        <p:txBody>
          <a:bodyPr wrap="square" lIns="0" rIns="0" tIns="0" bIns="0" anchor="t">
            <a:spAutoFit/>
          </a:bodyPr>
          <a:lstStyle/>
          <a:p>
            <a:pPr algn="l"/>
            <a:r>
              <a:rPr sz="1200" b="0" i="0">
                <a:solidFill>
                  <a:srgbClr val="FF5A6C"/>
                </a:solidFill>
                <a:latin typeface="Space Grotesk"/>
              </a:rPr>
              <a:t>✗  Cold start, hot DB</a:t>
            </a:r>
          </a:p>
        </p:txBody>
      </p:sp>
      <p:sp>
        <p:nvSpPr>
          <p:cNvPr id="39" name="TextBox 38"/>
          <p:cNvSpPr txBox="1"/>
          <p:nvPr/>
        </p:nvSpPr>
        <p:spPr>
          <a:xfrm>
            <a:off x="8321039" y="4681728"/>
            <a:ext cx="3749039" cy="365760"/>
          </a:xfrm>
          <a:prstGeom prst="rect">
            <a:avLst/>
          </a:prstGeom>
          <a:noFill/>
        </p:spPr>
        <p:txBody>
          <a:bodyPr wrap="square" lIns="0" rIns="0" tIns="0" bIns="0" anchor="t">
            <a:spAutoFit/>
          </a:bodyPr>
          <a:lstStyle/>
          <a:p>
            <a:pPr algn="l"/>
            <a:r>
              <a:rPr sz="1200" b="0" i="0">
                <a:solidFill>
                  <a:srgbClr val="2ECC71"/>
                </a:solidFill>
                <a:latin typeface="Space Grotesk"/>
              </a:rPr>
              <a:t>✓  RDI re-snapshots from source</a:t>
            </a:r>
          </a:p>
        </p:txBody>
      </p:sp>
      <p:sp>
        <p:nvSpPr>
          <p:cNvPr id="40" name="Rectangle 39"/>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TALK TRACK</a:t>
            </a:r>
          </a:p>
        </p:txBody>
      </p:sp>
      <p:sp>
        <p:nvSpPr>
          <p:cNvPr id="43" name="TextBox 42"/>
          <p:cNvSpPr txBox="1"/>
          <p:nvPr/>
        </p:nvSpPr>
        <p:spPr>
          <a:xfrm>
            <a:off x="777240" y="5623560"/>
            <a:ext cx="10972800" cy="594360"/>
          </a:xfrm>
          <a:prstGeom prst="rect">
            <a:avLst/>
          </a:prstGeom>
          <a:noFill/>
        </p:spPr>
        <p:txBody>
          <a:bodyPr wrap="square" lIns="0" rIns="0" tIns="0" bIns="0" anchor="t">
            <a:spAutoFit/>
          </a:bodyPr>
          <a:lstStyle/>
          <a:p>
            <a:pPr algn="l"/>
            <a:r>
              <a:rPr sz="1100" b="0" i="0">
                <a:solidFill>
                  <a:srgbClr val="163341"/>
                </a:solidFill>
                <a:latin typeface="Space Grotesk"/>
              </a:rPr>
              <a:t>Every team eventually builds cache-aside. The problem isn't building it — it's keeping it correct as the schema changes, as new tables get added, as new engineers join. RDI flips the model: the cache is no longer a side-effect maintained by the app; it is a continuously-synced projection of your source DB, owned by configuration.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04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RDI IN ONE SLIDE</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Continuously synced. Zero application code.</a:t>
            </a:r>
          </a:p>
        </p:txBody>
      </p:sp>
      <p:sp>
        <p:nvSpPr>
          <p:cNvPr id="12" name="TextBox 11"/>
          <p:cNvSpPr txBox="1"/>
          <p:nvPr/>
        </p:nvSpPr>
        <p:spPr>
          <a:xfrm>
            <a:off x="457200" y="1737360"/>
            <a:ext cx="11247120" cy="548640"/>
          </a:xfrm>
          <a:prstGeom prst="rect">
            <a:avLst/>
          </a:prstGeom>
          <a:noFill/>
        </p:spPr>
        <p:txBody>
          <a:bodyPr wrap="square" lIns="0" rIns="0" tIns="0" bIns="0" anchor="t">
            <a:spAutoFit/>
          </a:bodyPr>
          <a:lstStyle/>
          <a:p>
            <a:pPr algn="l"/>
            <a:r>
              <a:rPr sz="1500" b="0" i="0">
                <a:solidFill>
                  <a:srgbClr val="163341"/>
                </a:solidFill>
                <a:latin typeface="Space Grotesk"/>
              </a:rPr>
              <a:t>RDI keeps Redis Enterprise in lockstep with your primary database using Change Data Capture. No application changes.</a:t>
            </a:r>
          </a:p>
        </p:txBody>
      </p:sp>
      <p:sp>
        <p:nvSpPr>
          <p:cNvPr id="13" name="Rectangle 12"/>
          <p:cNvSpPr/>
          <p:nvPr/>
        </p:nvSpPr>
        <p:spPr>
          <a:xfrm>
            <a:off x="640080" y="2651760"/>
            <a:ext cx="3291840" cy="128016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017520"/>
            <a:ext cx="3291840" cy="365760"/>
          </a:xfrm>
          <a:prstGeom prst="rect">
            <a:avLst/>
          </a:prstGeom>
          <a:noFill/>
        </p:spPr>
        <p:txBody>
          <a:bodyPr wrap="square" lIns="0" rIns="0" tIns="0" bIns="0" anchor="t">
            <a:spAutoFit/>
          </a:bodyPr>
          <a:lstStyle/>
          <a:p>
            <a:pPr algn="ctr"/>
            <a:r>
              <a:rPr sz="2000" b="1" i="0">
                <a:solidFill>
                  <a:srgbClr val="091A23"/>
                </a:solidFill>
                <a:latin typeface="Space Grotesk"/>
              </a:rPr>
              <a:t>Oracle / Postgres</a:t>
            </a:r>
          </a:p>
        </p:txBody>
      </p:sp>
      <p:sp>
        <p:nvSpPr>
          <p:cNvPr id="15" name="TextBox 14"/>
          <p:cNvSpPr txBox="1"/>
          <p:nvPr/>
        </p:nvSpPr>
        <p:spPr>
          <a:xfrm>
            <a:off x="640080" y="3429000"/>
            <a:ext cx="3291840" cy="365760"/>
          </a:xfrm>
          <a:prstGeom prst="rect">
            <a:avLst/>
          </a:prstGeom>
          <a:noFill/>
        </p:spPr>
        <p:txBody>
          <a:bodyPr wrap="square" lIns="0" rIns="0" tIns="0" bIns="0" anchor="t">
            <a:spAutoFit/>
          </a:bodyPr>
          <a:lstStyle/>
          <a:p>
            <a:pPr algn="ctr"/>
            <a:r>
              <a:rPr sz="1100" b="0" i="0">
                <a:solidFill>
                  <a:srgbClr val="8A99A0"/>
                </a:solidFill>
                <a:latin typeface="Space Mono"/>
              </a:rPr>
              <a:t>system of record</a:t>
            </a:r>
          </a:p>
        </p:txBody>
      </p:sp>
      <p:sp>
        <p:nvSpPr>
          <p:cNvPr id="16" name="Rectangle 15"/>
          <p:cNvSpPr/>
          <p:nvPr/>
        </p:nvSpPr>
        <p:spPr>
          <a:xfrm>
            <a:off x="4572000" y="2651760"/>
            <a:ext cx="3291840" cy="1280160"/>
          </a:xfrm>
          <a:prstGeom prst="rect">
            <a:avLst/>
          </a:prstGeom>
          <a:solidFill>
            <a:srgbClr val="091A23"/>
          </a:solidFill>
          <a:ln w="9525">
            <a:solidFill>
              <a:srgbClr val="FF44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3017520"/>
            <a:ext cx="3291840" cy="365760"/>
          </a:xfrm>
          <a:prstGeom prst="rect">
            <a:avLst/>
          </a:prstGeom>
          <a:noFill/>
        </p:spPr>
        <p:txBody>
          <a:bodyPr wrap="square" lIns="0" rIns="0" tIns="0" bIns="0" anchor="t">
            <a:spAutoFit/>
          </a:bodyPr>
          <a:lstStyle/>
          <a:p>
            <a:pPr algn="ctr"/>
            <a:r>
              <a:rPr sz="2000" b="1" i="0">
                <a:solidFill>
                  <a:srgbClr val="DCFF1E"/>
                </a:solidFill>
                <a:latin typeface="Space Grotesk"/>
              </a:rPr>
              <a:t>RDI</a:t>
            </a:r>
          </a:p>
        </p:txBody>
      </p:sp>
      <p:sp>
        <p:nvSpPr>
          <p:cNvPr id="18" name="TextBox 17"/>
          <p:cNvSpPr txBox="1"/>
          <p:nvPr/>
        </p:nvSpPr>
        <p:spPr>
          <a:xfrm>
            <a:off x="4572000" y="3429000"/>
            <a:ext cx="3291840" cy="365760"/>
          </a:xfrm>
          <a:prstGeom prst="rect">
            <a:avLst/>
          </a:prstGeom>
          <a:noFill/>
        </p:spPr>
        <p:txBody>
          <a:bodyPr wrap="square" lIns="0" rIns="0" tIns="0" bIns="0" anchor="t">
            <a:spAutoFit/>
          </a:bodyPr>
          <a:lstStyle/>
          <a:p>
            <a:pPr algn="ctr"/>
            <a:r>
              <a:rPr sz="1100" b="0" i="0">
                <a:solidFill>
                  <a:srgbClr val="8A99A0"/>
                </a:solidFill>
                <a:latin typeface="Space Mono"/>
              </a:rPr>
              <a:t>CDC + transform</a:t>
            </a:r>
          </a:p>
        </p:txBody>
      </p:sp>
      <p:sp>
        <p:nvSpPr>
          <p:cNvPr id="19" name="Rectangle 18"/>
          <p:cNvSpPr/>
          <p:nvPr/>
        </p:nvSpPr>
        <p:spPr>
          <a:xfrm>
            <a:off x="8503920" y="2651760"/>
            <a:ext cx="3291840" cy="128016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3017520"/>
            <a:ext cx="3291840" cy="365760"/>
          </a:xfrm>
          <a:prstGeom prst="rect">
            <a:avLst/>
          </a:prstGeom>
          <a:noFill/>
        </p:spPr>
        <p:txBody>
          <a:bodyPr wrap="square" lIns="0" rIns="0" tIns="0" bIns="0" anchor="t">
            <a:spAutoFit/>
          </a:bodyPr>
          <a:lstStyle/>
          <a:p>
            <a:pPr algn="ctr"/>
            <a:r>
              <a:rPr sz="2000" b="1" i="0">
                <a:solidFill>
                  <a:srgbClr val="091A23"/>
                </a:solidFill>
                <a:latin typeface="Space Grotesk"/>
              </a:rPr>
              <a:t>Redis Enterprise</a:t>
            </a:r>
          </a:p>
        </p:txBody>
      </p:sp>
      <p:sp>
        <p:nvSpPr>
          <p:cNvPr id="21" name="TextBox 20"/>
          <p:cNvSpPr txBox="1"/>
          <p:nvPr/>
        </p:nvSpPr>
        <p:spPr>
          <a:xfrm>
            <a:off x="8503920" y="3429000"/>
            <a:ext cx="3291840" cy="365760"/>
          </a:xfrm>
          <a:prstGeom prst="rect">
            <a:avLst/>
          </a:prstGeom>
          <a:noFill/>
        </p:spPr>
        <p:txBody>
          <a:bodyPr wrap="square" lIns="0" rIns="0" tIns="0" bIns="0" anchor="t">
            <a:spAutoFit/>
          </a:bodyPr>
          <a:lstStyle/>
          <a:p>
            <a:pPr algn="ctr"/>
            <a:r>
              <a:rPr sz="1100" b="0" i="0">
                <a:solidFill>
                  <a:srgbClr val="8A99A0"/>
                </a:solidFill>
                <a:latin typeface="Space Mono"/>
              </a:rPr>
              <a:t>hot cache, sub-ms reads</a:t>
            </a:r>
          </a:p>
        </p:txBody>
      </p:sp>
      <p:sp>
        <p:nvSpPr>
          <p:cNvPr id="22" name="Right Arrow 21"/>
          <p:cNvSpPr/>
          <p:nvPr/>
        </p:nvSpPr>
        <p:spPr>
          <a:xfrm>
            <a:off x="4023360" y="3154680"/>
            <a:ext cx="502920" cy="274320"/>
          </a:xfrm>
          <a:prstGeom prst="rightArrow">
            <a:avLst/>
          </a:prstGeom>
          <a:solidFill>
            <a:srgbClr val="FF4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7955279" y="3154680"/>
            <a:ext cx="502920" cy="274320"/>
          </a:xfrm>
          <a:prstGeom prst="rightArrow">
            <a:avLst/>
          </a:prstGeom>
          <a:solidFill>
            <a:srgbClr val="FF4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389120"/>
            <a:ext cx="3657600" cy="169164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389120"/>
            <a:ext cx="164592" cy="169164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572000"/>
            <a:ext cx="3108960" cy="365760"/>
          </a:xfrm>
          <a:prstGeom prst="rect">
            <a:avLst/>
          </a:prstGeom>
          <a:noFill/>
        </p:spPr>
        <p:txBody>
          <a:bodyPr wrap="square" lIns="0" rIns="0" tIns="0" bIns="0" anchor="t">
            <a:spAutoFit/>
          </a:bodyPr>
          <a:lstStyle/>
          <a:p>
            <a:pPr algn="l"/>
            <a:r>
              <a:rPr sz="1100" b="1" i="0">
                <a:solidFill>
                  <a:srgbClr val="FF4438"/>
                </a:solidFill>
                <a:latin typeface="Space Mono"/>
              </a:rPr>
              <a:t>CAPTURE</a:t>
            </a:r>
          </a:p>
        </p:txBody>
      </p:sp>
      <p:sp>
        <p:nvSpPr>
          <p:cNvPr id="27" name="TextBox 26"/>
          <p:cNvSpPr txBox="1"/>
          <p:nvPr/>
        </p:nvSpPr>
        <p:spPr>
          <a:xfrm>
            <a:off x="822960" y="5029200"/>
            <a:ext cx="3108960" cy="86868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Debezium-based CDC</a:t>
            </a:r>
          </a:p>
          <a:p>
            <a:pPr algn="l">
              <a:spcAft>
                <a:spcPts val="600"/>
              </a:spcAft>
            </a:pPr>
            <a:r>
              <a:rPr sz="1000" b="1">
                <a:solidFill>
                  <a:srgbClr val="FF4438"/>
                </a:solidFill>
                <a:latin typeface="Space Mono"/>
              </a:rPr>
              <a:t>■  </a:t>
            </a:r>
            <a:r>
              <a:rPr sz="1200" b="0">
                <a:solidFill>
                  <a:srgbClr val="163341"/>
                </a:solidFill>
                <a:latin typeface="Space Grotesk"/>
              </a:rPr>
              <a:t>Reads the database’s own redo / WAL</a:t>
            </a:r>
          </a:p>
          <a:p>
            <a:pPr algn="l">
              <a:spcAft>
                <a:spcPts val="600"/>
              </a:spcAft>
            </a:pPr>
            <a:r>
              <a:rPr sz="1000" b="1">
                <a:solidFill>
                  <a:srgbClr val="FF4438"/>
                </a:solidFill>
                <a:latin typeface="Space Mono"/>
              </a:rPr>
              <a:t>■  </a:t>
            </a:r>
            <a:r>
              <a:rPr sz="1200" b="0">
                <a:solidFill>
                  <a:srgbClr val="163341"/>
                </a:solidFill>
                <a:latin typeface="Space Grotesk"/>
              </a:rPr>
              <a:t>Zero load on application tables</a:t>
            </a:r>
          </a:p>
        </p:txBody>
      </p:sp>
      <p:sp>
        <p:nvSpPr>
          <p:cNvPr id="28" name="Rectangle 27"/>
          <p:cNvSpPr/>
          <p:nvPr/>
        </p:nvSpPr>
        <p:spPr>
          <a:xfrm>
            <a:off x="4251960" y="4389120"/>
            <a:ext cx="3657600" cy="169164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51960" y="4389120"/>
            <a:ext cx="164592" cy="169164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17720" y="4572000"/>
            <a:ext cx="3108960" cy="365760"/>
          </a:xfrm>
          <a:prstGeom prst="rect">
            <a:avLst/>
          </a:prstGeom>
          <a:noFill/>
        </p:spPr>
        <p:txBody>
          <a:bodyPr wrap="square" lIns="0" rIns="0" tIns="0" bIns="0" anchor="t">
            <a:spAutoFit/>
          </a:bodyPr>
          <a:lstStyle/>
          <a:p>
            <a:pPr algn="l"/>
            <a:r>
              <a:rPr sz="1100" b="1" i="0">
                <a:solidFill>
                  <a:srgbClr val="FF4438"/>
                </a:solidFill>
                <a:latin typeface="Space Mono"/>
              </a:rPr>
              <a:t>TRANSFORM</a:t>
            </a:r>
          </a:p>
        </p:txBody>
      </p:sp>
      <p:sp>
        <p:nvSpPr>
          <p:cNvPr id="31" name="TextBox 30"/>
          <p:cNvSpPr txBox="1"/>
          <p:nvPr/>
        </p:nvSpPr>
        <p:spPr>
          <a:xfrm>
            <a:off x="4617720" y="5029200"/>
            <a:ext cx="3108960" cy="86868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Declarative YAML jobs</a:t>
            </a:r>
          </a:p>
          <a:p>
            <a:pPr algn="l">
              <a:spcAft>
                <a:spcPts val="600"/>
              </a:spcAft>
            </a:pPr>
            <a:r>
              <a:rPr sz="1000" b="1">
                <a:solidFill>
                  <a:srgbClr val="FF4438"/>
                </a:solidFill>
                <a:latin typeface="Space Mono"/>
              </a:rPr>
              <a:t>■  </a:t>
            </a:r>
            <a:r>
              <a:rPr sz="1200" b="0">
                <a:solidFill>
                  <a:srgbClr val="163341"/>
                </a:solidFill>
                <a:latin typeface="Space Grotesk"/>
              </a:rPr>
              <a:t>Pick columns, filter rows, set key pattern</a:t>
            </a:r>
          </a:p>
          <a:p>
            <a:pPr algn="l">
              <a:spcAft>
                <a:spcPts val="600"/>
              </a:spcAft>
            </a:pPr>
            <a:r>
              <a:rPr sz="1000" b="1">
                <a:solidFill>
                  <a:srgbClr val="FF4438"/>
                </a:solidFill>
                <a:latin typeface="Space Mono"/>
              </a:rPr>
              <a:t>■  </a:t>
            </a:r>
            <a:r>
              <a:rPr sz="1200" b="0">
                <a:solidFill>
                  <a:srgbClr val="163341"/>
                </a:solidFill>
                <a:latin typeface="Space Grotesk"/>
              </a:rPr>
              <a:t>Pick target: JSON · Hash · Stream · ZSET</a:t>
            </a:r>
          </a:p>
        </p:txBody>
      </p:sp>
      <p:sp>
        <p:nvSpPr>
          <p:cNvPr id="32" name="Rectangle 31"/>
          <p:cNvSpPr/>
          <p:nvPr/>
        </p:nvSpPr>
        <p:spPr>
          <a:xfrm>
            <a:off x="8046720" y="4389120"/>
            <a:ext cx="3657600" cy="169164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6720" y="4389120"/>
            <a:ext cx="164592" cy="169164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0" y="4572000"/>
            <a:ext cx="3108960" cy="365760"/>
          </a:xfrm>
          <a:prstGeom prst="rect">
            <a:avLst/>
          </a:prstGeom>
          <a:noFill/>
        </p:spPr>
        <p:txBody>
          <a:bodyPr wrap="square" lIns="0" rIns="0" tIns="0" bIns="0" anchor="t">
            <a:spAutoFit/>
          </a:bodyPr>
          <a:lstStyle/>
          <a:p>
            <a:pPr algn="l"/>
            <a:r>
              <a:rPr sz="1100" b="1" i="0">
                <a:solidFill>
                  <a:srgbClr val="FF4438"/>
                </a:solidFill>
                <a:latin typeface="Space Mono"/>
              </a:rPr>
              <a:t>DELIVER</a:t>
            </a:r>
          </a:p>
        </p:txBody>
      </p:sp>
      <p:sp>
        <p:nvSpPr>
          <p:cNvPr id="35" name="TextBox 34"/>
          <p:cNvSpPr txBox="1"/>
          <p:nvPr/>
        </p:nvSpPr>
        <p:spPr>
          <a:xfrm>
            <a:off x="8412480" y="5029200"/>
            <a:ext cx="3108960" cy="86868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At-least-once into Redis Enterprise</a:t>
            </a:r>
          </a:p>
          <a:p>
            <a:pPr algn="l">
              <a:spcAft>
                <a:spcPts val="600"/>
              </a:spcAft>
            </a:pPr>
            <a:r>
              <a:rPr sz="1000" b="1">
                <a:solidFill>
                  <a:srgbClr val="FF4438"/>
                </a:solidFill>
                <a:latin typeface="Space Mono"/>
              </a:rPr>
              <a:t>■  </a:t>
            </a:r>
            <a:r>
              <a:rPr sz="1200" b="0">
                <a:solidFill>
                  <a:srgbClr val="163341"/>
                </a:solidFill>
                <a:latin typeface="Space Grotesk"/>
              </a:rPr>
              <a:t>~10k records / sec / core</a:t>
            </a:r>
          </a:p>
          <a:p>
            <a:pPr algn="l">
              <a:spcAft>
                <a:spcPts val="600"/>
              </a:spcAft>
            </a:pPr>
            <a:r>
              <a:rPr sz="1000" b="1">
                <a:solidFill>
                  <a:srgbClr val="FF4438"/>
                </a:solidFill>
                <a:latin typeface="Space Mono"/>
              </a:rPr>
              <a:t>■  </a:t>
            </a:r>
            <a:r>
              <a:rPr sz="1200" b="0">
                <a:solidFill>
                  <a:srgbClr val="163341"/>
                </a:solidFill>
                <a:latin typeface="Space Grotesk"/>
              </a:rPr>
              <a:t>Back-pressure + full observability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05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ARCHITECTURE</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How RDI is deployed in production</a:t>
            </a:r>
          </a:p>
        </p:txBody>
      </p:sp>
      <p:sp>
        <p:nvSpPr>
          <p:cNvPr id="12" name="TextBox 11"/>
          <p:cNvSpPr txBox="1"/>
          <p:nvPr/>
        </p:nvSpPr>
        <p:spPr>
          <a:xfrm>
            <a:off x="457200" y="1783080"/>
            <a:ext cx="5943600" cy="365760"/>
          </a:xfrm>
          <a:prstGeom prst="rect">
            <a:avLst/>
          </a:prstGeom>
          <a:noFill/>
        </p:spPr>
        <p:txBody>
          <a:bodyPr wrap="square" lIns="0" rIns="0" tIns="0" bIns="0" anchor="t">
            <a:spAutoFit/>
          </a:bodyPr>
          <a:lstStyle/>
          <a:p>
            <a:pPr algn="l"/>
            <a:r>
              <a:rPr sz="1400" b="1" i="0">
                <a:solidFill>
                  <a:srgbClr val="091A23"/>
                </a:solidFill>
                <a:latin typeface="Space Grotesk"/>
              </a:rPr>
              <a:t>Three planes  ·  standard RDI topology</a:t>
            </a:r>
          </a:p>
        </p:txBody>
      </p:sp>
      <p:sp>
        <p:nvSpPr>
          <p:cNvPr id="13" name="TextBox 12"/>
          <p:cNvSpPr txBox="1"/>
          <p:nvPr/>
        </p:nvSpPr>
        <p:spPr>
          <a:xfrm>
            <a:off x="457200" y="2194560"/>
            <a:ext cx="5943600" cy="237744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Data plane — Debezium collector + stream processor. 2 VMs, active/standby with leader election.</a:t>
            </a:r>
          </a:p>
          <a:p>
            <a:pPr algn="l">
              <a:spcAft>
                <a:spcPts val="600"/>
              </a:spcAft>
            </a:pPr>
            <a:r>
              <a:rPr sz="1000" b="1">
                <a:solidFill>
                  <a:srgbClr val="FF4438"/>
                </a:solidFill>
                <a:latin typeface="Space Mono"/>
              </a:rPr>
              <a:t>■  </a:t>
            </a:r>
            <a:r>
              <a:rPr sz="1200" b="0">
                <a:solidFill>
                  <a:srgbClr val="163341"/>
                </a:solidFill>
                <a:latin typeface="Space Grotesk"/>
              </a:rPr>
              <a:t>Control plane — operator + REST API + Prometheus exporter on the same VMs.</a:t>
            </a:r>
          </a:p>
          <a:p>
            <a:pPr algn="l">
              <a:spcAft>
                <a:spcPts val="600"/>
              </a:spcAft>
            </a:pPr>
            <a:r>
              <a:rPr sz="1000" b="1">
                <a:solidFill>
                  <a:srgbClr val="FF4438"/>
                </a:solidFill>
                <a:latin typeface="Space Mono"/>
              </a:rPr>
              <a:t>■  </a:t>
            </a:r>
            <a:r>
              <a:rPr sz="1200" b="0">
                <a:solidFill>
                  <a:srgbClr val="163341"/>
                </a:solidFill>
                <a:latin typeface="Space Grotesk"/>
              </a:rPr>
              <a:t>Management plane — redis-di CLI + Redis Insight pipeline editor (same tool you use today).</a:t>
            </a:r>
          </a:p>
        </p:txBody>
      </p:sp>
      <p:sp>
        <p:nvSpPr>
          <p:cNvPr id="14" name="TextBox 13"/>
          <p:cNvSpPr txBox="1"/>
          <p:nvPr/>
        </p:nvSpPr>
        <p:spPr>
          <a:xfrm>
            <a:off x="457200" y="4297680"/>
            <a:ext cx="5943600" cy="914400"/>
          </a:xfrm>
          <a:prstGeom prst="rect">
            <a:avLst/>
          </a:prstGeom>
          <a:noFill/>
        </p:spPr>
        <p:txBody>
          <a:bodyPr wrap="square" lIns="0" rIns="0" tIns="0" bIns="0" anchor="t">
            <a:spAutoFit/>
          </a:bodyPr>
          <a:lstStyle/>
          <a:p>
            <a:pPr algn="l"/>
            <a:r>
              <a:rPr sz="1200" b="0" i="1">
                <a:solidFill>
                  <a:srgbClr val="8A99A0"/>
                </a:solidFill>
                <a:latin typeface="Space Grotesk"/>
              </a:rPr>
              <a:t>RDI's own state — CDC streams, checkpoints, schema history — sits inside Redis Enterprise. Nothing is persisted on the RDI VMs. Your security and DR posture stays simple.</a:t>
            </a:r>
          </a:p>
        </p:txBody>
      </p:sp>
      <p:sp>
        <p:nvSpPr>
          <p:cNvPr id="15" name="Rectangle 14"/>
          <p:cNvSpPr/>
          <p:nvPr/>
        </p:nvSpPr>
        <p:spPr>
          <a:xfrm>
            <a:off x="6766560" y="1737360"/>
            <a:ext cx="4937760" cy="352044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66560" y="1737360"/>
            <a:ext cx="164592" cy="3520440"/>
          </a:xfrm>
          <a:prstGeom prst="rect">
            <a:avLst/>
          </a:prstGeom>
          <a:solidFill>
            <a:srgbClr val="DCF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1920240"/>
            <a:ext cx="4389120" cy="365760"/>
          </a:xfrm>
          <a:prstGeom prst="rect">
            <a:avLst/>
          </a:prstGeom>
          <a:noFill/>
        </p:spPr>
        <p:txBody>
          <a:bodyPr wrap="square" lIns="0" rIns="0" tIns="0" bIns="0" anchor="t">
            <a:spAutoFit/>
          </a:bodyPr>
          <a:lstStyle/>
          <a:p>
            <a:pPr algn="l"/>
            <a:r>
              <a:rPr sz="1100" b="1" i="0">
                <a:solidFill>
                  <a:srgbClr val="DCFF1E"/>
                </a:solidFill>
                <a:latin typeface="Space Mono"/>
              </a:rPr>
              <a:t>FOR HDFC SECURITIES</a:t>
            </a:r>
          </a:p>
        </p:txBody>
      </p:sp>
      <p:sp>
        <p:nvSpPr>
          <p:cNvPr id="18" name="TextBox 17"/>
          <p:cNvSpPr txBox="1"/>
          <p:nvPr/>
        </p:nvSpPr>
        <p:spPr>
          <a:xfrm>
            <a:off x="7132320" y="2377440"/>
            <a:ext cx="4389120" cy="2697480"/>
          </a:xfrm>
          <a:prstGeom prst="rect">
            <a:avLst/>
          </a:prstGeom>
          <a:noFill/>
        </p:spPr>
        <p:txBody>
          <a:bodyPr wrap="square" lIns="0" tIns="0">
            <a:spAutoFit/>
          </a:bodyPr>
          <a:lstStyle/>
          <a:p>
            <a:pPr algn="l">
              <a:spcAft>
                <a:spcPts val="600"/>
              </a:spcAft>
            </a:pPr>
            <a:r>
              <a:rPr sz="1000" b="1">
                <a:solidFill>
                  <a:srgbClr val="DCFF1E"/>
                </a:solidFill>
                <a:latin typeface="Space Mono"/>
              </a:rPr>
              <a:t>■  </a:t>
            </a:r>
            <a:r>
              <a:rPr sz="1200" b="0">
                <a:solidFill>
                  <a:srgbClr val="163341"/>
                </a:solidFill>
                <a:latin typeface="Space Grotesk"/>
              </a:rPr>
              <a:t>2 RDI VMs (or K8s pods) per environment</a:t>
            </a:r>
          </a:p>
          <a:p>
            <a:pPr algn="l">
              <a:spcAft>
                <a:spcPts val="600"/>
              </a:spcAft>
            </a:pPr>
            <a:r>
              <a:rPr sz="1000" b="1">
                <a:solidFill>
                  <a:srgbClr val="DCFF1E"/>
                </a:solidFill>
                <a:latin typeface="Space Mono"/>
              </a:rPr>
              <a:t>■  </a:t>
            </a:r>
            <a:r>
              <a:rPr sz="1200" b="0">
                <a:solidFill>
                  <a:srgbClr val="163341"/>
                </a:solidFill>
                <a:latin typeface="Space Grotesk"/>
              </a:rPr>
              <a:t>RDI state DB on existing Redis Enterprise — 250 MB shard pair</a:t>
            </a:r>
          </a:p>
          <a:p>
            <a:pPr algn="l">
              <a:spcAft>
                <a:spcPts val="600"/>
              </a:spcAft>
            </a:pPr>
            <a:r>
              <a:rPr sz="1000" b="1">
                <a:solidFill>
                  <a:srgbClr val="DCFF1E"/>
                </a:solidFill>
                <a:latin typeface="Space Mono"/>
              </a:rPr>
              <a:t>■  </a:t>
            </a:r>
            <a:r>
              <a:rPr sz="1200" b="0">
                <a:solidFill>
                  <a:srgbClr val="163341"/>
                </a:solidFill>
                <a:latin typeface="Space Grotesk"/>
              </a:rPr>
              <a:t>Source: read-only CDC user on Oracle (same as GoldenGate setup)</a:t>
            </a:r>
          </a:p>
          <a:p>
            <a:pPr algn="l">
              <a:spcAft>
                <a:spcPts val="600"/>
              </a:spcAft>
            </a:pPr>
            <a:r>
              <a:rPr sz="1000" b="1">
                <a:solidFill>
                  <a:srgbClr val="DCFF1E"/>
                </a:solidFill>
                <a:latin typeface="Space Mono"/>
              </a:rPr>
              <a:t>■  </a:t>
            </a:r>
            <a:r>
              <a:rPr sz="1200" b="0">
                <a:solidFill>
                  <a:srgbClr val="163341"/>
                </a:solidFill>
                <a:latin typeface="Space Grotesk"/>
              </a:rPr>
              <a:t>Target: any number of Redis Enterprise DBs</a:t>
            </a:r>
          </a:p>
        </p:txBody>
      </p:sp>
      <p:sp>
        <p:nvSpPr>
          <p:cNvPr id="19" name="Rectangle 18"/>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TALK TRACK</a:t>
            </a:r>
          </a:p>
        </p:txBody>
      </p:sp>
      <p:sp>
        <p:nvSpPr>
          <p:cNvPr id="22" name="TextBox 21"/>
          <p:cNvSpPr txBox="1"/>
          <p:nvPr/>
        </p:nvSpPr>
        <p:spPr>
          <a:xfrm>
            <a:off x="777240" y="5623560"/>
            <a:ext cx="10972800" cy="594360"/>
          </a:xfrm>
          <a:prstGeom prst="rect">
            <a:avLst/>
          </a:prstGeom>
          <a:noFill/>
        </p:spPr>
        <p:txBody>
          <a:bodyPr wrap="square" lIns="0" rIns="0" tIns="0" bIns="0" anchor="t">
            <a:spAutoFit/>
          </a:bodyPr>
          <a:lstStyle/>
          <a:p>
            <a:pPr algn="l"/>
            <a:r>
              <a:rPr sz="1100" b="0" i="0">
                <a:solidFill>
                  <a:srgbClr val="163341"/>
                </a:solidFill>
                <a:latin typeface="Space Grotesk"/>
              </a:rPr>
              <a:t>Operationally this is two VMs or two K8s pods. RDI has hot failover built in — leader election decides which one is active. All the state RDI needs lives in Redis Enterprise on your existing cluster. There is nothing else for you to back up. That matters for your DR runbooks and your auditors.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06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LIFECYCLE</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What happens when you click Deploy</a:t>
            </a:r>
          </a:p>
        </p:txBody>
      </p:sp>
      <p:sp>
        <p:nvSpPr>
          <p:cNvPr id="12" name="Rectangle 11"/>
          <p:cNvSpPr/>
          <p:nvPr/>
        </p:nvSpPr>
        <p:spPr>
          <a:xfrm>
            <a:off x="457200" y="1828800"/>
            <a:ext cx="11247120" cy="7772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080" y="1947672"/>
            <a:ext cx="548640" cy="548640"/>
          </a:xfrm>
          <a:prstGeom prst="ellipse">
            <a:avLst/>
          </a:prstGeom>
          <a:solidFill>
            <a:srgbClr val="FF4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947672"/>
            <a:ext cx="548640" cy="548640"/>
          </a:xfrm>
          <a:prstGeom prst="rect">
            <a:avLst/>
          </a:prstGeom>
          <a:noFill/>
        </p:spPr>
        <p:txBody>
          <a:bodyPr wrap="square" lIns="0" rIns="0" tIns="0" bIns="0" anchor="ctr">
            <a:spAutoFit/>
          </a:bodyPr>
          <a:lstStyle/>
          <a:p>
            <a:pPr algn="ctr"/>
            <a:r>
              <a:rPr sz="1400" b="1" i="0">
                <a:solidFill>
                  <a:srgbClr val="FFFFFF"/>
                </a:solidFill>
                <a:latin typeface="Space Mono"/>
              </a:rPr>
              <a:t>01</a:t>
            </a:r>
          </a:p>
        </p:txBody>
      </p:sp>
      <p:sp>
        <p:nvSpPr>
          <p:cNvPr id="15" name="TextBox 14"/>
          <p:cNvSpPr txBox="1"/>
          <p:nvPr/>
        </p:nvSpPr>
        <p:spPr>
          <a:xfrm>
            <a:off x="1417320" y="1947672"/>
            <a:ext cx="2743200" cy="365760"/>
          </a:xfrm>
          <a:prstGeom prst="rect">
            <a:avLst/>
          </a:prstGeom>
          <a:noFill/>
        </p:spPr>
        <p:txBody>
          <a:bodyPr wrap="square" lIns="0" rIns="0" tIns="0" bIns="0" anchor="t">
            <a:spAutoFit/>
          </a:bodyPr>
          <a:lstStyle/>
          <a:p>
            <a:pPr algn="l"/>
            <a:r>
              <a:rPr sz="1500" b="1" i="0">
                <a:solidFill>
                  <a:srgbClr val="091A23"/>
                </a:solidFill>
                <a:latin typeface="Space Grotesk"/>
              </a:rPr>
              <a:t>Validate</a:t>
            </a:r>
          </a:p>
        </p:txBody>
      </p:sp>
      <p:sp>
        <p:nvSpPr>
          <p:cNvPr id="16" name="TextBox 15"/>
          <p:cNvSpPr txBox="1"/>
          <p:nvPr/>
        </p:nvSpPr>
        <p:spPr>
          <a:xfrm>
            <a:off x="1417320" y="2240280"/>
            <a:ext cx="10058400" cy="365760"/>
          </a:xfrm>
          <a:prstGeom prst="rect">
            <a:avLst/>
          </a:prstGeom>
          <a:noFill/>
        </p:spPr>
        <p:txBody>
          <a:bodyPr wrap="square" lIns="0" rIns="0" tIns="0" bIns="0" anchor="t">
            <a:spAutoFit/>
          </a:bodyPr>
          <a:lstStyle/>
          <a:p>
            <a:pPr algn="l"/>
            <a:r>
              <a:rPr sz="1200" b="0" i="0">
                <a:solidFill>
                  <a:srgbClr val="163341"/>
                </a:solidFill>
                <a:latin typeface="Space Grotesk"/>
              </a:rPr>
              <a:t>Syntax check on config.yaml, connectivity to source &amp; target, replication slot exists.</a:t>
            </a:r>
          </a:p>
        </p:txBody>
      </p:sp>
      <p:sp>
        <p:nvSpPr>
          <p:cNvPr id="17" name="Rectangle 16"/>
          <p:cNvSpPr/>
          <p:nvPr/>
        </p:nvSpPr>
        <p:spPr>
          <a:xfrm>
            <a:off x="457200" y="2697480"/>
            <a:ext cx="11247120" cy="7772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 y="2816352"/>
            <a:ext cx="548640" cy="548640"/>
          </a:xfrm>
          <a:prstGeom prst="ellipse">
            <a:avLst/>
          </a:prstGeom>
          <a:solidFill>
            <a:srgbClr val="FF4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816352"/>
            <a:ext cx="548640" cy="548640"/>
          </a:xfrm>
          <a:prstGeom prst="rect">
            <a:avLst/>
          </a:prstGeom>
          <a:noFill/>
        </p:spPr>
        <p:txBody>
          <a:bodyPr wrap="square" lIns="0" rIns="0" tIns="0" bIns="0" anchor="ctr">
            <a:spAutoFit/>
          </a:bodyPr>
          <a:lstStyle/>
          <a:p>
            <a:pPr algn="ctr"/>
            <a:r>
              <a:rPr sz="1400" b="1" i="0">
                <a:solidFill>
                  <a:srgbClr val="FFFFFF"/>
                </a:solidFill>
                <a:latin typeface="Space Mono"/>
              </a:rPr>
              <a:t>02</a:t>
            </a:r>
          </a:p>
        </p:txBody>
      </p:sp>
      <p:sp>
        <p:nvSpPr>
          <p:cNvPr id="20" name="TextBox 19"/>
          <p:cNvSpPr txBox="1"/>
          <p:nvPr/>
        </p:nvSpPr>
        <p:spPr>
          <a:xfrm>
            <a:off x="1417320" y="2816352"/>
            <a:ext cx="2743200" cy="365760"/>
          </a:xfrm>
          <a:prstGeom prst="rect">
            <a:avLst/>
          </a:prstGeom>
          <a:noFill/>
        </p:spPr>
        <p:txBody>
          <a:bodyPr wrap="square" lIns="0" rIns="0" tIns="0" bIns="0" anchor="t">
            <a:spAutoFit/>
          </a:bodyPr>
          <a:lstStyle/>
          <a:p>
            <a:pPr algn="l"/>
            <a:r>
              <a:rPr sz="1500" b="1" i="0">
                <a:solidFill>
                  <a:srgbClr val="091A23"/>
                </a:solidFill>
                <a:latin typeface="Space Grotesk"/>
              </a:rPr>
              <a:t>Snapshot</a:t>
            </a:r>
          </a:p>
        </p:txBody>
      </p:sp>
      <p:sp>
        <p:nvSpPr>
          <p:cNvPr id="21" name="TextBox 20"/>
          <p:cNvSpPr txBox="1"/>
          <p:nvPr/>
        </p:nvSpPr>
        <p:spPr>
          <a:xfrm>
            <a:off x="1417320" y="3108960"/>
            <a:ext cx="10058400" cy="365760"/>
          </a:xfrm>
          <a:prstGeom prst="rect">
            <a:avLst/>
          </a:prstGeom>
          <a:noFill/>
        </p:spPr>
        <p:txBody>
          <a:bodyPr wrap="square" lIns="0" rIns="0" tIns="0" bIns="0" anchor="t">
            <a:spAutoFit/>
          </a:bodyPr>
          <a:lstStyle/>
          <a:p>
            <a:pPr algn="l"/>
            <a:r>
              <a:rPr sz="1200" b="0" i="0">
                <a:solidFill>
                  <a:srgbClr val="163341"/>
                </a:solidFill>
                <a:latin typeface="Space Grotesk"/>
              </a:rPr>
              <a:t>Full parallel read of selected rows. Day-1 prefetch — no cold cache, ever.</a:t>
            </a:r>
          </a:p>
        </p:txBody>
      </p:sp>
      <p:sp>
        <p:nvSpPr>
          <p:cNvPr id="22" name="Rectangle 21"/>
          <p:cNvSpPr/>
          <p:nvPr/>
        </p:nvSpPr>
        <p:spPr>
          <a:xfrm>
            <a:off x="457200" y="3566160"/>
            <a:ext cx="11247120" cy="7772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3685032"/>
            <a:ext cx="548640" cy="548640"/>
          </a:xfrm>
          <a:prstGeom prst="ellipse">
            <a:avLst/>
          </a:prstGeom>
          <a:solidFill>
            <a:srgbClr val="FF4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685032"/>
            <a:ext cx="548640" cy="548640"/>
          </a:xfrm>
          <a:prstGeom prst="rect">
            <a:avLst/>
          </a:prstGeom>
          <a:noFill/>
        </p:spPr>
        <p:txBody>
          <a:bodyPr wrap="square" lIns="0" rIns="0" tIns="0" bIns="0" anchor="ctr">
            <a:spAutoFit/>
          </a:bodyPr>
          <a:lstStyle/>
          <a:p>
            <a:pPr algn="ctr"/>
            <a:r>
              <a:rPr sz="1400" b="1" i="0">
                <a:solidFill>
                  <a:srgbClr val="FFFFFF"/>
                </a:solidFill>
                <a:latin typeface="Space Mono"/>
              </a:rPr>
              <a:t>03</a:t>
            </a:r>
          </a:p>
        </p:txBody>
      </p:sp>
      <p:sp>
        <p:nvSpPr>
          <p:cNvPr id="25" name="TextBox 24"/>
          <p:cNvSpPr txBox="1"/>
          <p:nvPr/>
        </p:nvSpPr>
        <p:spPr>
          <a:xfrm>
            <a:off x="1417320" y="3685032"/>
            <a:ext cx="2743200" cy="365760"/>
          </a:xfrm>
          <a:prstGeom prst="rect">
            <a:avLst/>
          </a:prstGeom>
          <a:noFill/>
        </p:spPr>
        <p:txBody>
          <a:bodyPr wrap="square" lIns="0" rIns="0" tIns="0" bIns="0" anchor="t">
            <a:spAutoFit/>
          </a:bodyPr>
          <a:lstStyle/>
          <a:p>
            <a:pPr algn="l"/>
            <a:r>
              <a:rPr sz="1500" b="1" i="0">
                <a:solidFill>
                  <a:srgbClr val="091A23"/>
                </a:solidFill>
                <a:latin typeface="Space Grotesk"/>
              </a:rPr>
              <a:t>CDC streaming</a:t>
            </a:r>
          </a:p>
        </p:txBody>
      </p:sp>
      <p:sp>
        <p:nvSpPr>
          <p:cNvPr id="26" name="TextBox 25"/>
          <p:cNvSpPr txBox="1"/>
          <p:nvPr/>
        </p:nvSpPr>
        <p:spPr>
          <a:xfrm>
            <a:off x="1417320" y="3977640"/>
            <a:ext cx="10058400" cy="365760"/>
          </a:xfrm>
          <a:prstGeom prst="rect">
            <a:avLst/>
          </a:prstGeom>
          <a:noFill/>
        </p:spPr>
        <p:txBody>
          <a:bodyPr wrap="square" lIns="0" rIns="0" tIns="0" bIns="0" anchor="t">
            <a:spAutoFit/>
          </a:bodyPr>
          <a:lstStyle/>
          <a:p>
            <a:pPr algn="l"/>
            <a:r>
              <a:rPr sz="1200" b="0" i="0">
                <a:solidFill>
                  <a:srgbClr val="163341"/>
                </a:solidFill>
                <a:latin typeface="Space Grotesk"/>
              </a:rPr>
              <a:t>Tail Oracle redo / Postgres WAL. New events land in Redis in 100s of milliseconds.</a:t>
            </a:r>
          </a:p>
        </p:txBody>
      </p:sp>
      <p:sp>
        <p:nvSpPr>
          <p:cNvPr id="27" name="Rectangle 26"/>
          <p:cNvSpPr/>
          <p:nvPr/>
        </p:nvSpPr>
        <p:spPr>
          <a:xfrm>
            <a:off x="457200" y="4434840"/>
            <a:ext cx="11247120" cy="7772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0080" y="4553712"/>
            <a:ext cx="548640" cy="548640"/>
          </a:xfrm>
          <a:prstGeom prst="ellipse">
            <a:avLst/>
          </a:prstGeom>
          <a:solidFill>
            <a:srgbClr val="FF4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553712"/>
            <a:ext cx="548640" cy="548640"/>
          </a:xfrm>
          <a:prstGeom prst="rect">
            <a:avLst/>
          </a:prstGeom>
          <a:noFill/>
        </p:spPr>
        <p:txBody>
          <a:bodyPr wrap="square" lIns="0" rIns="0" tIns="0" bIns="0" anchor="ctr">
            <a:spAutoFit/>
          </a:bodyPr>
          <a:lstStyle/>
          <a:p>
            <a:pPr algn="ctr"/>
            <a:r>
              <a:rPr sz="1400" b="1" i="0">
                <a:solidFill>
                  <a:srgbClr val="FFFFFF"/>
                </a:solidFill>
                <a:latin typeface="Space Mono"/>
              </a:rPr>
              <a:t>04</a:t>
            </a:r>
          </a:p>
        </p:txBody>
      </p:sp>
      <p:sp>
        <p:nvSpPr>
          <p:cNvPr id="30" name="TextBox 29"/>
          <p:cNvSpPr txBox="1"/>
          <p:nvPr/>
        </p:nvSpPr>
        <p:spPr>
          <a:xfrm>
            <a:off x="1417320" y="4553712"/>
            <a:ext cx="2743200" cy="365760"/>
          </a:xfrm>
          <a:prstGeom prst="rect">
            <a:avLst/>
          </a:prstGeom>
          <a:noFill/>
        </p:spPr>
        <p:txBody>
          <a:bodyPr wrap="square" lIns="0" rIns="0" tIns="0" bIns="0" anchor="t">
            <a:spAutoFit/>
          </a:bodyPr>
          <a:lstStyle/>
          <a:p>
            <a:pPr algn="l"/>
            <a:r>
              <a:rPr sz="1500" b="1" i="0">
                <a:solidFill>
                  <a:srgbClr val="091A23"/>
                </a:solidFill>
                <a:latin typeface="Space Grotesk"/>
              </a:rPr>
              <a:t>Update</a:t>
            </a:r>
          </a:p>
        </p:txBody>
      </p:sp>
      <p:sp>
        <p:nvSpPr>
          <p:cNvPr id="31" name="TextBox 30"/>
          <p:cNvSpPr txBox="1"/>
          <p:nvPr/>
        </p:nvSpPr>
        <p:spPr>
          <a:xfrm>
            <a:off x="1417320" y="4846320"/>
            <a:ext cx="10058400" cy="365760"/>
          </a:xfrm>
          <a:prstGeom prst="rect">
            <a:avLst/>
          </a:prstGeom>
          <a:noFill/>
        </p:spPr>
        <p:txBody>
          <a:bodyPr wrap="square" lIns="0" rIns="0" tIns="0" bIns="0" anchor="t">
            <a:spAutoFit/>
          </a:bodyPr>
          <a:lstStyle/>
          <a:p>
            <a:pPr algn="l"/>
            <a:r>
              <a:rPr sz="1200" b="0" i="0">
                <a:solidFill>
                  <a:srgbClr val="163341"/>
                </a:solidFill>
                <a:latin typeface="Space Grotesk"/>
              </a:rPr>
              <a:t>Add a column or a transformation — edit YAML, redeploy. No pipeline reset.</a:t>
            </a:r>
          </a:p>
        </p:txBody>
      </p:sp>
      <p:sp>
        <p:nvSpPr>
          <p:cNvPr id="32" name="Rectangle 31"/>
          <p:cNvSpPr/>
          <p:nvPr/>
        </p:nvSpPr>
        <p:spPr>
          <a:xfrm>
            <a:off x="457200" y="5303520"/>
            <a:ext cx="11247120" cy="7772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0080" y="5422392"/>
            <a:ext cx="548640" cy="548640"/>
          </a:xfrm>
          <a:prstGeom prst="ellipse">
            <a:avLst/>
          </a:prstGeom>
          <a:solidFill>
            <a:srgbClr val="FF4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422392"/>
            <a:ext cx="548640" cy="548640"/>
          </a:xfrm>
          <a:prstGeom prst="rect">
            <a:avLst/>
          </a:prstGeom>
          <a:noFill/>
        </p:spPr>
        <p:txBody>
          <a:bodyPr wrap="square" lIns="0" rIns="0" tIns="0" bIns="0" anchor="ctr">
            <a:spAutoFit/>
          </a:bodyPr>
          <a:lstStyle/>
          <a:p>
            <a:pPr algn="ctr"/>
            <a:r>
              <a:rPr sz="1400" b="1" i="0">
                <a:solidFill>
                  <a:srgbClr val="FFFFFF"/>
                </a:solidFill>
                <a:latin typeface="Space Mono"/>
              </a:rPr>
              <a:t>05</a:t>
            </a:r>
          </a:p>
        </p:txBody>
      </p:sp>
      <p:sp>
        <p:nvSpPr>
          <p:cNvPr id="35" name="TextBox 34"/>
          <p:cNvSpPr txBox="1"/>
          <p:nvPr/>
        </p:nvSpPr>
        <p:spPr>
          <a:xfrm>
            <a:off x="1417320" y="5422392"/>
            <a:ext cx="2743200" cy="365760"/>
          </a:xfrm>
          <a:prstGeom prst="rect">
            <a:avLst/>
          </a:prstGeom>
          <a:noFill/>
        </p:spPr>
        <p:txBody>
          <a:bodyPr wrap="square" lIns="0" rIns="0" tIns="0" bIns="0" anchor="t">
            <a:spAutoFit/>
          </a:bodyPr>
          <a:lstStyle/>
          <a:p>
            <a:pPr algn="l"/>
            <a:r>
              <a:rPr sz="1500" b="1" i="0">
                <a:solidFill>
                  <a:srgbClr val="091A23"/>
                </a:solidFill>
                <a:latin typeface="Space Grotesk"/>
              </a:rPr>
              <a:t>Reset (rare)</a:t>
            </a:r>
          </a:p>
        </p:txBody>
      </p:sp>
      <p:sp>
        <p:nvSpPr>
          <p:cNvPr id="36" name="TextBox 35"/>
          <p:cNvSpPr txBox="1"/>
          <p:nvPr/>
        </p:nvSpPr>
        <p:spPr>
          <a:xfrm>
            <a:off x="1417320" y="5715000"/>
            <a:ext cx="10058400" cy="365760"/>
          </a:xfrm>
          <a:prstGeom prst="rect">
            <a:avLst/>
          </a:prstGeom>
          <a:noFill/>
        </p:spPr>
        <p:txBody>
          <a:bodyPr wrap="square" lIns="0" rIns="0" tIns="0" bIns="0" anchor="t">
            <a:spAutoFit/>
          </a:bodyPr>
          <a:lstStyle/>
          <a:p>
            <a:pPr algn="l"/>
            <a:r>
              <a:rPr sz="1200" b="0" i="0">
                <a:solidFill>
                  <a:srgbClr val="163341"/>
                </a:solidFill>
                <a:latin typeface="Space Grotesk"/>
              </a:rPr>
              <a:t>Rebuild a target DB from scratch with a single CLI command.</a:t>
            </a:r>
          </a:p>
        </p:txBody>
      </p:sp>
      <p:sp>
        <p:nvSpPr>
          <p:cNvPr id="37" name="Rectangle 36"/>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TALK TRACK</a:t>
            </a:r>
          </a:p>
        </p:txBody>
      </p:sp>
      <p:sp>
        <p:nvSpPr>
          <p:cNvPr id="40" name="TextBox 39"/>
          <p:cNvSpPr txBox="1"/>
          <p:nvPr/>
        </p:nvSpPr>
        <p:spPr>
          <a:xfrm>
            <a:off x="777240" y="5623560"/>
            <a:ext cx="10972800" cy="594360"/>
          </a:xfrm>
          <a:prstGeom prst="rect">
            <a:avLst/>
          </a:prstGeom>
          <a:noFill/>
        </p:spPr>
        <p:txBody>
          <a:bodyPr wrap="square" lIns="0" rIns="0" tIns="0" bIns="0" anchor="t">
            <a:spAutoFit/>
          </a:bodyPr>
          <a:lstStyle/>
          <a:p>
            <a:pPr algn="l"/>
            <a:r>
              <a:rPr sz="1100" b="0" i="0">
                <a:solidFill>
                  <a:srgbClr val="163341"/>
                </a:solidFill>
                <a:latin typeface="Space Grotesk"/>
              </a:rPr>
              <a:t>This is the lifecycle. The key word is snapshot — on day 1, RDI prefetches your whole dataset. So the very first user request after go-live is already hot. That's the difference between cache-aside and cache-prefetching: you stop paying the cold-start tax.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07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MAPPING FOR YOUR USE CASE</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Portfolio tables → Redis data structures</a:t>
            </a:r>
          </a:p>
        </p:txBody>
      </p:sp>
      <p:sp>
        <p:nvSpPr>
          <p:cNvPr id="12" name="Rectangle 11"/>
          <p:cNvSpPr/>
          <p:nvPr/>
        </p:nvSpPr>
        <p:spPr>
          <a:xfrm>
            <a:off x="457200" y="1828800"/>
            <a:ext cx="11247120" cy="4114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920240"/>
            <a:ext cx="2743200" cy="274320"/>
          </a:xfrm>
          <a:prstGeom prst="rect">
            <a:avLst/>
          </a:prstGeom>
          <a:noFill/>
        </p:spPr>
        <p:txBody>
          <a:bodyPr wrap="square" lIns="0" rIns="0" tIns="0" bIns="0" anchor="t">
            <a:spAutoFit/>
          </a:bodyPr>
          <a:lstStyle/>
          <a:p>
            <a:pPr algn="l"/>
            <a:r>
              <a:rPr sz="1100" b="1" i="0">
                <a:solidFill>
                  <a:srgbClr val="DCFF1E"/>
                </a:solidFill>
                <a:latin typeface="Space Mono"/>
              </a:rPr>
              <a:t>SOURCE TABLE (Oracle)</a:t>
            </a:r>
          </a:p>
        </p:txBody>
      </p:sp>
      <p:sp>
        <p:nvSpPr>
          <p:cNvPr id="14" name="TextBox 13"/>
          <p:cNvSpPr txBox="1"/>
          <p:nvPr/>
        </p:nvSpPr>
        <p:spPr>
          <a:xfrm>
            <a:off x="3383280" y="1920240"/>
            <a:ext cx="3474720" cy="274320"/>
          </a:xfrm>
          <a:prstGeom prst="rect">
            <a:avLst/>
          </a:prstGeom>
          <a:noFill/>
        </p:spPr>
        <p:txBody>
          <a:bodyPr wrap="square" lIns="0" rIns="0" tIns="0" bIns="0" anchor="t">
            <a:spAutoFit/>
          </a:bodyPr>
          <a:lstStyle/>
          <a:p>
            <a:pPr algn="l"/>
            <a:r>
              <a:rPr sz="1100" b="1" i="0">
                <a:solidFill>
                  <a:srgbClr val="DCFF1E"/>
                </a:solidFill>
                <a:latin typeface="Space Mono"/>
              </a:rPr>
              <a:t>REDIS KEY PATTERN</a:t>
            </a:r>
          </a:p>
        </p:txBody>
      </p:sp>
      <p:sp>
        <p:nvSpPr>
          <p:cNvPr id="15" name="TextBox 14"/>
          <p:cNvSpPr txBox="1"/>
          <p:nvPr/>
        </p:nvSpPr>
        <p:spPr>
          <a:xfrm>
            <a:off x="6858000" y="1920240"/>
            <a:ext cx="1005840" cy="274320"/>
          </a:xfrm>
          <a:prstGeom prst="rect">
            <a:avLst/>
          </a:prstGeom>
          <a:noFill/>
        </p:spPr>
        <p:txBody>
          <a:bodyPr wrap="square" lIns="0" rIns="0" tIns="0" bIns="0" anchor="t">
            <a:spAutoFit/>
          </a:bodyPr>
          <a:lstStyle/>
          <a:p>
            <a:pPr algn="l"/>
            <a:r>
              <a:rPr sz="1100" b="1" i="0">
                <a:solidFill>
                  <a:srgbClr val="DCFF1E"/>
                </a:solidFill>
                <a:latin typeface="Space Mono"/>
              </a:rPr>
              <a:t>TYPE</a:t>
            </a:r>
          </a:p>
        </p:txBody>
      </p:sp>
      <p:sp>
        <p:nvSpPr>
          <p:cNvPr id="16" name="TextBox 15"/>
          <p:cNvSpPr txBox="1"/>
          <p:nvPr/>
        </p:nvSpPr>
        <p:spPr>
          <a:xfrm>
            <a:off x="7955279" y="1920240"/>
            <a:ext cx="3657600" cy="274320"/>
          </a:xfrm>
          <a:prstGeom prst="rect">
            <a:avLst/>
          </a:prstGeom>
          <a:noFill/>
        </p:spPr>
        <p:txBody>
          <a:bodyPr wrap="square" lIns="0" rIns="0" tIns="0" bIns="0" anchor="t">
            <a:spAutoFit/>
          </a:bodyPr>
          <a:lstStyle/>
          <a:p>
            <a:pPr algn="l"/>
            <a:r>
              <a:rPr sz="1100" b="1" i="0">
                <a:solidFill>
                  <a:srgbClr val="DCFF1E"/>
                </a:solidFill>
                <a:latin typeface="Space Mono"/>
              </a:rPr>
              <a:t>WHY</a:t>
            </a:r>
          </a:p>
        </p:txBody>
      </p:sp>
      <p:sp>
        <p:nvSpPr>
          <p:cNvPr id="17" name="Rectangle 16"/>
          <p:cNvSpPr/>
          <p:nvPr/>
        </p:nvSpPr>
        <p:spPr>
          <a:xfrm>
            <a:off x="457200" y="2240280"/>
            <a:ext cx="1124712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441448"/>
            <a:ext cx="2743200" cy="365760"/>
          </a:xfrm>
          <a:prstGeom prst="rect">
            <a:avLst/>
          </a:prstGeom>
          <a:noFill/>
        </p:spPr>
        <p:txBody>
          <a:bodyPr wrap="square" lIns="0" rIns="0" tIns="0" bIns="0" anchor="t">
            <a:spAutoFit/>
          </a:bodyPr>
          <a:lstStyle/>
          <a:p>
            <a:pPr algn="l"/>
            <a:r>
              <a:rPr sz="1200" b="1" i="0">
                <a:solidFill>
                  <a:srgbClr val="091A23"/>
                </a:solidFill>
                <a:latin typeface="Space Mono"/>
              </a:rPr>
              <a:t>portfolio.customer</a:t>
            </a:r>
          </a:p>
        </p:txBody>
      </p:sp>
      <p:sp>
        <p:nvSpPr>
          <p:cNvPr id="19" name="TextBox 18"/>
          <p:cNvSpPr txBox="1"/>
          <p:nvPr/>
        </p:nvSpPr>
        <p:spPr>
          <a:xfrm>
            <a:off x="3383280" y="2441448"/>
            <a:ext cx="3474720" cy="365760"/>
          </a:xfrm>
          <a:prstGeom prst="rect">
            <a:avLst/>
          </a:prstGeom>
          <a:noFill/>
        </p:spPr>
        <p:txBody>
          <a:bodyPr wrap="square" lIns="0" rIns="0" tIns="0" bIns="0" anchor="t">
            <a:spAutoFit/>
          </a:bodyPr>
          <a:lstStyle/>
          <a:p>
            <a:pPr algn="l"/>
            <a:r>
              <a:rPr sz="1200" b="0" i="0">
                <a:solidFill>
                  <a:srgbClr val="FF4438"/>
                </a:solidFill>
                <a:latin typeface="Space Mono"/>
              </a:rPr>
              <a:t>customer:{client_code}</a:t>
            </a:r>
          </a:p>
        </p:txBody>
      </p:sp>
      <p:sp>
        <p:nvSpPr>
          <p:cNvPr id="20" name="TextBox 19"/>
          <p:cNvSpPr txBox="1"/>
          <p:nvPr/>
        </p:nvSpPr>
        <p:spPr>
          <a:xfrm>
            <a:off x="6858000" y="2441448"/>
            <a:ext cx="1005840" cy="365760"/>
          </a:xfrm>
          <a:prstGeom prst="rect">
            <a:avLst/>
          </a:prstGeom>
          <a:noFill/>
        </p:spPr>
        <p:txBody>
          <a:bodyPr wrap="square" lIns="0" rIns="0" tIns="0" bIns="0" anchor="t">
            <a:spAutoFit/>
          </a:bodyPr>
          <a:lstStyle/>
          <a:p>
            <a:pPr algn="l"/>
            <a:r>
              <a:rPr sz="1200" b="0" i="0">
                <a:solidFill>
                  <a:srgbClr val="163341"/>
                </a:solidFill>
                <a:latin typeface="Space Grotesk"/>
              </a:rPr>
              <a:t>JSON</a:t>
            </a:r>
          </a:p>
        </p:txBody>
      </p:sp>
      <p:sp>
        <p:nvSpPr>
          <p:cNvPr id="21" name="TextBox 20"/>
          <p:cNvSpPr txBox="1"/>
          <p:nvPr/>
        </p:nvSpPr>
        <p:spPr>
          <a:xfrm>
            <a:off x="7955279" y="2441448"/>
            <a:ext cx="3657600" cy="365760"/>
          </a:xfrm>
          <a:prstGeom prst="rect">
            <a:avLst/>
          </a:prstGeom>
          <a:noFill/>
        </p:spPr>
        <p:txBody>
          <a:bodyPr wrap="square" lIns="0" rIns="0" tIns="0" bIns="0" anchor="t">
            <a:spAutoFit/>
          </a:bodyPr>
          <a:lstStyle/>
          <a:p>
            <a:pPr algn="l"/>
            <a:r>
              <a:rPr sz="1200" b="0" i="0">
                <a:solidFill>
                  <a:srgbClr val="163341"/>
                </a:solidFill>
                <a:latin typeface="Space Grotesk"/>
              </a:rPr>
              <a:t>Full profile read on every login</a:t>
            </a:r>
          </a:p>
        </p:txBody>
      </p:sp>
      <p:sp>
        <p:nvSpPr>
          <p:cNvPr id="22" name="Rectangle 21"/>
          <p:cNvSpPr/>
          <p:nvPr/>
        </p:nvSpPr>
        <p:spPr>
          <a:xfrm>
            <a:off x="457200" y="2880360"/>
            <a:ext cx="11247120" cy="64008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081528"/>
            <a:ext cx="2743200" cy="365760"/>
          </a:xfrm>
          <a:prstGeom prst="rect">
            <a:avLst/>
          </a:prstGeom>
          <a:noFill/>
        </p:spPr>
        <p:txBody>
          <a:bodyPr wrap="square" lIns="0" rIns="0" tIns="0" bIns="0" anchor="t">
            <a:spAutoFit/>
          </a:bodyPr>
          <a:lstStyle/>
          <a:p>
            <a:pPr algn="l"/>
            <a:r>
              <a:rPr sz="1200" b="1" i="0">
                <a:solidFill>
                  <a:srgbClr val="091A23"/>
                </a:solidFill>
                <a:latin typeface="Space Mono"/>
              </a:rPr>
              <a:t>portfolio.security_master</a:t>
            </a:r>
          </a:p>
        </p:txBody>
      </p:sp>
      <p:sp>
        <p:nvSpPr>
          <p:cNvPr id="24" name="TextBox 23"/>
          <p:cNvSpPr txBox="1"/>
          <p:nvPr/>
        </p:nvSpPr>
        <p:spPr>
          <a:xfrm>
            <a:off x="3383280" y="3081528"/>
            <a:ext cx="3474720" cy="365760"/>
          </a:xfrm>
          <a:prstGeom prst="rect">
            <a:avLst/>
          </a:prstGeom>
          <a:noFill/>
        </p:spPr>
        <p:txBody>
          <a:bodyPr wrap="square" lIns="0" rIns="0" tIns="0" bIns="0" anchor="t">
            <a:spAutoFit/>
          </a:bodyPr>
          <a:lstStyle/>
          <a:p>
            <a:pPr algn="l"/>
            <a:r>
              <a:rPr sz="1200" b="0" i="0">
                <a:solidFill>
                  <a:srgbClr val="FF4438"/>
                </a:solidFill>
                <a:latin typeface="Space Mono"/>
              </a:rPr>
              <a:t>security:{symbol}</a:t>
            </a:r>
          </a:p>
        </p:txBody>
      </p:sp>
      <p:sp>
        <p:nvSpPr>
          <p:cNvPr id="25" name="TextBox 24"/>
          <p:cNvSpPr txBox="1"/>
          <p:nvPr/>
        </p:nvSpPr>
        <p:spPr>
          <a:xfrm>
            <a:off x="6858000" y="3081528"/>
            <a:ext cx="1005840" cy="365760"/>
          </a:xfrm>
          <a:prstGeom prst="rect">
            <a:avLst/>
          </a:prstGeom>
          <a:noFill/>
        </p:spPr>
        <p:txBody>
          <a:bodyPr wrap="square" lIns="0" rIns="0" tIns="0" bIns="0" anchor="t">
            <a:spAutoFit/>
          </a:bodyPr>
          <a:lstStyle/>
          <a:p>
            <a:pPr algn="l"/>
            <a:r>
              <a:rPr sz="1200" b="0" i="0">
                <a:solidFill>
                  <a:srgbClr val="163341"/>
                </a:solidFill>
                <a:latin typeface="Space Grotesk"/>
              </a:rPr>
              <a:t>Hash</a:t>
            </a:r>
          </a:p>
        </p:txBody>
      </p:sp>
      <p:sp>
        <p:nvSpPr>
          <p:cNvPr id="26" name="TextBox 25"/>
          <p:cNvSpPr txBox="1"/>
          <p:nvPr/>
        </p:nvSpPr>
        <p:spPr>
          <a:xfrm>
            <a:off x="7955279" y="3081528"/>
            <a:ext cx="3657600" cy="365760"/>
          </a:xfrm>
          <a:prstGeom prst="rect">
            <a:avLst/>
          </a:prstGeom>
          <a:noFill/>
        </p:spPr>
        <p:txBody>
          <a:bodyPr wrap="square" lIns="0" rIns="0" tIns="0" bIns="0" anchor="t">
            <a:spAutoFit/>
          </a:bodyPr>
          <a:lstStyle/>
          <a:p>
            <a:pPr algn="l"/>
            <a:r>
              <a:rPr sz="1200" b="0" i="0">
                <a:solidFill>
                  <a:srgbClr val="163341"/>
                </a:solidFill>
                <a:latin typeface="Space Grotesk"/>
              </a:rPr>
              <a:t>Reference data, per-field reads</a:t>
            </a:r>
          </a:p>
        </p:txBody>
      </p:sp>
      <p:sp>
        <p:nvSpPr>
          <p:cNvPr id="27" name="Rectangle 26"/>
          <p:cNvSpPr/>
          <p:nvPr/>
        </p:nvSpPr>
        <p:spPr>
          <a:xfrm>
            <a:off x="457200" y="3520440"/>
            <a:ext cx="1124712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721608"/>
            <a:ext cx="2743200" cy="365760"/>
          </a:xfrm>
          <a:prstGeom prst="rect">
            <a:avLst/>
          </a:prstGeom>
          <a:noFill/>
        </p:spPr>
        <p:txBody>
          <a:bodyPr wrap="square" lIns="0" rIns="0" tIns="0" bIns="0" anchor="t">
            <a:spAutoFit/>
          </a:bodyPr>
          <a:lstStyle/>
          <a:p>
            <a:pPr algn="l"/>
            <a:r>
              <a:rPr sz="1200" b="1" i="0">
                <a:solidFill>
                  <a:srgbClr val="091A23"/>
                </a:solidFill>
                <a:latin typeface="Space Mono"/>
              </a:rPr>
              <a:t>portfolio.holding</a:t>
            </a:r>
          </a:p>
        </p:txBody>
      </p:sp>
      <p:sp>
        <p:nvSpPr>
          <p:cNvPr id="29" name="TextBox 28"/>
          <p:cNvSpPr txBox="1"/>
          <p:nvPr/>
        </p:nvSpPr>
        <p:spPr>
          <a:xfrm>
            <a:off x="3383280" y="3721608"/>
            <a:ext cx="3474720" cy="365760"/>
          </a:xfrm>
          <a:prstGeom prst="rect">
            <a:avLst/>
          </a:prstGeom>
          <a:noFill/>
        </p:spPr>
        <p:txBody>
          <a:bodyPr wrap="square" lIns="0" rIns="0" tIns="0" bIns="0" anchor="t">
            <a:spAutoFit/>
          </a:bodyPr>
          <a:lstStyle/>
          <a:p>
            <a:pPr algn="l"/>
            <a:r>
              <a:rPr sz="1200" b="0" i="0">
                <a:solidFill>
                  <a:srgbClr val="FF4438"/>
                </a:solidFill>
                <a:latin typeface="Space Mono"/>
              </a:rPr>
              <a:t>holding:{cust}:{sec}</a:t>
            </a:r>
          </a:p>
        </p:txBody>
      </p:sp>
      <p:sp>
        <p:nvSpPr>
          <p:cNvPr id="30" name="TextBox 29"/>
          <p:cNvSpPr txBox="1"/>
          <p:nvPr/>
        </p:nvSpPr>
        <p:spPr>
          <a:xfrm>
            <a:off x="6858000" y="3721608"/>
            <a:ext cx="1005840" cy="365760"/>
          </a:xfrm>
          <a:prstGeom prst="rect">
            <a:avLst/>
          </a:prstGeom>
          <a:noFill/>
        </p:spPr>
        <p:txBody>
          <a:bodyPr wrap="square" lIns="0" rIns="0" tIns="0" bIns="0" anchor="t">
            <a:spAutoFit/>
          </a:bodyPr>
          <a:lstStyle/>
          <a:p>
            <a:pPr algn="l"/>
            <a:r>
              <a:rPr sz="1200" b="0" i="0">
                <a:solidFill>
                  <a:srgbClr val="163341"/>
                </a:solidFill>
                <a:latin typeface="Space Grotesk"/>
              </a:rPr>
              <a:t>JSON</a:t>
            </a:r>
          </a:p>
        </p:txBody>
      </p:sp>
      <p:sp>
        <p:nvSpPr>
          <p:cNvPr id="31" name="TextBox 30"/>
          <p:cNvSpPr txBox="1"/>
          <p:nvPr/>
        </p:nvSpPr>
        <p:spPr>
          <a:xfrm>
            <a:off x="7955279" y="3721608"/>
            <a:ext cx="3657600" cy="365760"/>
          </a:xfrm>
          <a:prstGeom prst="rect">
            <a:avLst/>
          </a:prstGeom>
          <a:noFill/>
        </p:spPr>
        <p:txBody>
          <a:bodyPr wrap="square" lIns="0" rIns="0" tIns="0" bIns="0" anchor="t">
            <a:spAutoFit/>
          </a:bodyPr>
          <a:lstStyle/>
          <a:p>
            <a:pPr algn="l"/>
            <a:r>
              <a:rPr sz="1200" b="0" i="0">
                <a:solidFill>
                  <a:srgbClr val="163341"/>
                </a:solidFill>
                <a:latin typeface="Space Grotesk"/>
              </a:rPr>
              <a:t>Single hottest object in the app</a:t>
            </a:r>
          </a:p>
        </p:txBody>
      </p:sp>
      <p:sp>
        <p:nvSpPr>
          <p:cNvPr id="32" name="Rectangle 31"/>
          <p:cNvSpPr/>
          <p:nvPr/>
        </p:nvSpPr>
        <p:spPr>
          <a:xfrm>
            <a:off x="457200" y="4160520"/>
            <a:ext cx="11247120" cy="64008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4361688"/>
            <a:ext cx="2743200" cy="365760"/>
          </a:xfrm>
          <a:prstGeom prst="rect">
            <a:avLst/>
          </a:prstGeom>
          <a:noFill/>
        </p:spPr>
        <p:txBody>
          <a:bodyPr wrap="square" lIns="0" rIns="0" tIns="0" bIns="0" anchor="t">
            <a:spAutoFit/>
          </a:bodyPr>
          <a:lstStyle/>
          <a:p>
            <a:pPr algn="l"/>
            <a:r>
              <a:rPr sz="1200" b="1" i="0">
                <a:solidFill>
                  <a:srgbClr val="091A23"/>
                </a:solidFill>
                <a:latin typeface="Space Mono"/>
              </a:rPr>
              <a:t>portfolio.trade</a:t>
            </a:r>
          </a:p>
        </p:txBody>
      </p:sp>
      <p:sp>
        <p:nvSpPr>
          <p:cNvPr id="34" name="TextBox 33"/>
          <p:cNvSpPr txBox="1"/>
          <p:nvPr/>
        </p:nvSpPr>
        <p:spPr>
          <a:xfrm>
            <a:off x="3383280" y="4361688"/>
            <a:ext cx="3474720" cy="365760"/>
          </a:xfrm>
          <a:prstGeom prst="rect">
            <a:avLst/>
          </a:prstGeom>
          <a:noFill/>
        </p:spPr>
        <p:txBody>
          <a:bodyPr wrap="square" lIns="0" rIns="0" tIns="0" bIns="0" anchor="t">
            <a:spAutoFit/>
          </a:bodyPr>
          <a:lstStyle/>
          <a:p>
            <a:pPr algn="l"/>
            <a:r>
              <a:rPr sz="1200" b="0" i="0">
                <a:solidFill>
                  <a:srgbClr val="FF4438"/>
                </a:solidFill>
                <a:latin typeface="Space Mono"/>
              </a:rPr>
              <a:t>trades:{cust}  +  trade:{trade_id}</a:t>
            </a:r>
          </a:p>
        </p:txBody>
      </p:sp>
      <p:sp>
        <p:nvSpPr>
          <p:cNvPr id="35" name="TextBox 34"/>
          <p:cNvSpPr txBox="1"/>
          <p:nvPr/>
        </p:nvSpPr>
        <p:spPr>
          <a:xfrm>
            <a:off x="6858000" y="4361688"/>
            <a:ext cx="1005840" cy="365760"/>
          </a:xfrm>
          <a:prstGeom prst="rect">
            <a:avLst/>
          </a:prstGeom>
          <a:noFill/>
        </p:spPr>
        <p:txBody>
          <a:bodyPr wrap="square" lIns="0" rIns="0" tIns="0" bIns="0" anchor="t">
            <a:spAutoFit/>
          </a:bodyPr>
          <a:lstStyle/>
          <a:p>
            <a:pPr algn="l"/>
            <a:r>
              <a:rPr sz="1200" b="0" i="0">
                <a:solidFill>
                  <a:srgbClr val="163341"/>
                </a:solidFill>
                <a:latin typeface="Space Grotesk"/>
              </a:rPr>
              <a:t>Stream + JSON</a:t>
            </a:r>
          </a:p>
        </p:txBody>
      </p:sp>
      <p:sp>
        <p:nvSpPr>
          <p:cNvPr id="36" name="TextBox 35"/>
          <p:cNvSpPr txBox="1"/>
          <p:nvPr/>
        </p:nvSpPr>
        <p:spPr>
          <a:xfrm>
            <a:off x="7955279" y="4361688"/>
            <a:ext cx="3657600" cy="365760"/>
          </a:xfrm>
          <a:prstGeom prst="rect">
            <a:avLst/>
          </a:prstGeom>
          <a:noFill/>
        </p:spPr>
        <p:txBody>
          <a:bodyPr wrap="square" lIns="0" rIns="0" tIns="0" bIns="0" anchor="t">
            <a:spAutoFit/>
          </a:bodyPr>
          <a:lstStyle/>
          <a:p>
            <a:pPr algn="l"/>
            <a:r>
              <a:rPr sz="1200" b="0" i="0">
                <a:solidFill>
                  <a:srgbClr val="163341"/>
                </a:solidFill>
                <a:latin typeface="Space Grotesk"/>
              </a:rPr>
              <a:t>Live order feed + lookup</a:t>
            </a:r>
          </a:p>
        </p:txBody>
      </p:sp>
      <p:sp>
        <p:nvSpPr>
          <p:cNvPr id="37" name="Rectangle 36"/>
          <p:cNvSpPr/>
          <p:nvPr/>
        </p:nvSpPr>
        <p:spPr>
          <a:xfrm>
            <a:off x="457200" y="4800600"/>
            <a:ext cx="1124712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5001768"/>
            <a:ext cx="2743200" cy="365760"/>
          </a:xfrm>
          <a:prstGeom prst="rect">
            <a:avLst/>
          </a:prstGeom>
          <a:noFill/>
        </p:spPr>
        <p:txBody>
          <a:bodyPr wrap="square" lIns="0" rIns="0" tIns="0" bIns="0" anchor="t">
            <a:spAutoFit/>
          </a:bodyPr>
          <a:lstStyle/>
          <a:p>
            <a:pPr algn="l"/>
            <a:r>
              <a:rPr sz="1200" b="1" i="0">
                <a:solidFill>
                  <a:srgbClr val="091A23"/>
                </a:solidFill>
                <a:latin typeface="Space Mono"/>
              </a:rPr>
              <a:t>portfolio.market_price</a:t>
            </a:r>
          </a:p>
        </p:txBody>
      </p:sp>
      <p:sp>
        <p:nvSpPr>
          <p:cNvPr id="39" name="TextBox 38"/>
          <p:cNvSpPr txBox="1"/>
          <p:nvPr/>
        </p:nvSpPr>
        <p:spPr>
          <a:xfrm>
            <a:off x="3383280" y="5001768"/>
            <a:ext cx="3474720" cy="365760"/>
          </a:xfrm>
          <a:prstGeom prst="rect">
            <a:avLst/>
          </a:prstGeom>
          <a:noFill/>
        </p:spPr>
        <p:txBody>
          <a:bodyPr wrap="square" lIns="0" rIns="0" tIns="0" bIns="0" anchor="t">
            <a:spAutoFit/>
          </a:bodyPr>
          <a:lstStyle/>
          <a:p>
            <a:pPr algn="l"/>
            <a:r>
              <a:rPr sz="1200" b="0" i="0">
                <a:solidFill>
                  <a:srgbClr val="FF4438"/>
                </a:solidFill>
                <a:latin typeface="Space Mono"/>
              </a:rPr>
              <a:t>price:{security_id}</a:t>
            </a:r>
          </a:p>
        </p:txBody>
      </p:sp>
      <p:sp>
        <p:nvSpPr>
          <p:cNvPr id="40" name="TextBox 39"/>
          <p:cNvSpPr txBox="1"/>
          <p:nvPr/>
        </p:nvSpPr>
        <p:spPr>
          <a:xfrm>
            <a:off x="6858000" y="5001768"/>
            <a:ext cx="1005840" cy="365760"/>
          </a:xfrm>
          <a:prstGeom prst="rect">
            <a:avLst/>
          </a:prstGeom>
          <a:noFill/>
        </p:spPr>
        <p:txBody>
          <a:bodyPr wrap="square" lIns="0" rIns="0" tIns="0" bIns="0" anchor="t">
            <a:spAutoFit/>
          </a:bodyPr>
          <a:lstStyle/>
          <a:p>
            <a:pPr algn="l"/>
            <a:r>
              <a:rPr sz="1200" b="0" i="0">
                <a:solidFill>
                  <a:srgbClr val="163341"/>
                </a:solidFill>
                <a:latin typeface="Space Grotesk"/>
              </a:rPr>
              <a:t>Hash</a:t>
            </a:r>
          </a:p>
        </p:txBody>
      </p:sp>
      <p:sp>
        <p:nvSpPr>
          <p:cNvPr id="41" name="TextBox 40"/>
          <p:cNvSpPr txBox="1"/>
          <p:nvPr/>
        </p:nvSpPr>
        <p:spPr>
          <a:xfrm>
            <a:off x="7955279" y="5001768"/>
            <a:ext cx="3657600" cy="365760"/>
          </a:xfrm>
          <a:prstGeom prst="rect">
            <a:avLst/>
          </a:prstGeom>
          <a:noFill/>
        </p:spPr>
        <p:txBody>
          <a:bodyPr wrap="square" lIns="0" rIns="0" tIns="0" bIns="0" anchor="t">
            <a:spAutoFit/>
          </a:bodyPr>
          <a:lstStyle/>
          <a:p>
            <a:pPr algn="l"/>
            <a:r>
              <a:rPr sz="1200" b="0" i="0">
                <a:solidFill>
                  <a:srgbClr val="163341"/>
                </a:solidFill>
                <a:latin typeface="Space Grotesk"/>
              </a:rPr>
              <a:t>Tickers update every second</a:t>
            </a:r>
          </a:p>
        </p:txBody>
      </p:sp>
      <p:sp>
        <p:nvSpPr>
          <p:cNvPr id="42" name="TextBox 41"/>
          <p:cNvSpPr txBox="1"/>
          <p:nvPr/>
        </p:nvSpPr>
        <p:spPr>
          <a:xfrm>
            <a:off x="457200" y="5074920"/>
            <a:ext cx="11247120" cy="548640"/>
          </a:xfrm>
          <a:prstGeom prst="rect">
            <a:avLst/>
          </a:prstGeom>
          <a:noFill/>
        </p:spPr>
        <p:txBody>
          <a:bodyPr wrap="square" lIns="0" rIns="0" tIns="0" bIns="0" anchor="t">
            <a:spAutoFit/>
          </a:bodyPr>
          <a:lstStyle/>
          <a:p>
            <a:pPr algn="l"/>
            <a:r>
              <a:rPr sz="1200" b="0" i="1">
                <a:solidFill>
                  <a:srgbClr val="8A99A0"/>
                </a:solidFill>
                <a:latin typeface="Space Grotesk"/>
              </a:rPr>
              <a:t>Same source, different Redis shapes — pick the structure that fits the read pattern. RDI does this per table via a YAML job.</a:t>
            </a:r>
          </a:p>
        </p:txBody>
      </p:sp>
      <p:sp>
        <p:nvSpPr>
          <p:cNvPr id="43" name="Rectangle 42"/>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TALK TRACK</a:t>
            </a:r>
          </a:p>
        </p:txBody>
      </p:sp>
      <p:sp>
        <p:nvSpPr>
          <p:cNvPr id="46" name="TextBox 45"/>
          <p:cNvSpPr txBox="1"/>
          <p:nvPr/>
        </p:nvSpPr>
        <p:spPr>
          <a:xfrm>
            <a:off x="777240" y="5623560"/>
            <a:ext cx="10972800" cy="594360"/>
          </a:xfrm>
          <a:prstGeom prst="rect">
            <a:avLst/>
          </a:prstGeom>
          <a:noFill/>
        </p:spPr>
        <p:txBody>
          <a:bodyPr wrap="square" lIns="0" rIns="0" tIns="0" bIns="0" anchor="t">
            <a:spAutoFit/>
          </a:bodyPr>
          <a:lstStyle/>
          <a:p>
            <a:pPr algn="l"/>
            <a:r>
              <a:rPr sz="1100" b="0" i="0">
                <a:solidFill>
                  <a:srgbClr val="163341"/>
                </a:solidFill>
                <a:latin typeface="Space Grotesk"/>
              </a:rPr>
              <a:t>Here is the concrete mapping. Notice we use different Redis structures for different tables. A Hash for the security master where the trading screen wants one or two fields at a time. A JSON document for the holding because the mobile app wants the whole object. A Stream for trades so 'My Orders' just tails it. Same source, three target representations, all driven by config.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08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CONFIGURATION OVER CODE</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A complete RDI job — ten lines</a:t>
            </a:r>
          </a:p>
        </p:txBody>
      </p:sp>
      <p:sp>
        <p:nvSpPr>
          <p:cNvPr id="12" name="Rectangle 11"/>
          <p:cNvSpPr/>
          <p:nvPr/>
        </p:nvSpPr>
        <p:spPr>
          <a:xfrm>
            <a:off x="457200" y="1828800"/>
            <a:ext cx="7315200" cy="33832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11680"/>
            <a:ext cx="6766560" cy="3017520"/>
          </a:xfrm>
          <a:prstGeom prst="rect">
            <a:avLst/>
          </a:prstGeom>
          <a:noFill/>
        </p:spPr>
        <p:txBody>
          <a:bodyPr wrap="square" lIns="0" rIns="0" tIns="0" bIns="0" anchor="t">
            <a:spAutoFit/>
          </a:bodyPr>
          <a:lstStyle/>
          <a:p>
            <a:pPr algn="l"/>
            <a:r>
              <a:rPr sz="1100" b="0" i="0">
                <a:solidFill>
                  <a:srgbClr val="FFFFFF"/>
                </a:solidFill>
                <a:latin typeface="Space Mono"/>
              </a:rPr>
              <a:t>source:</a:t>
            </a:r>
          </a:p>
          <a:p>
            <a:pPr algn="l"/>
            <a:r>
              <a:rPr sz="1100" b="0" i="0">
                <a:solidFill>
                  <a:srgbClr val="FFFFFF"/>
                </a:solidFill>
                <a:latin typeface="Space Mono"/>
              </a:rPr>
              <a:t>  server_name: hdfcsec</a:t>
            </a:r>
          </a:p>
          <a:p>
            <a:pPr algn="l"/>
            <a:r>
              <a:rPr sz="1100" b="0" i="0">
                <a:solidFill>
                  <a:srgbClr val="FFFFFF"/>
                </a:solidFill>
                <a:latin typeface="Space Mono"/>
              </a:rPr>
              <a:t>  schema: portfolio</a:t>
            </a:r>
          </a:p>
          <a:p>
            <a:pPr algn="l"/>
            <a:r>
              <a:rPr sz="1100" b="0" i="0">
                <a:solidFill>
                  <a:srgbClr val="FFFFFF"/>
                </a:solidFill>
                <a:latin typeface="Space Mono"/>
              </a:rPr>
              <a:t>  table: holding</a:t>
            </a:r>
          </a:p>
          <a:p>
            <a:pPr algn="l"/>
            <a:r>
              <a:rPr sz="1100" b="0" i="0">
                <a:solidFill>
                  <a:srgbClr val="FFFFFF"/>
                </a:solidFill>
                <a:latin typeface="Space Mono"/>
              </a:rPr>
              <a:t/>
            </a:r>
          </a:p>
          <a:p>
            <a:pPr algn="l"/>
            <a:r>
              <a:rPr sz="1100" b="0" i="0">
                <a:solidFill>
                  <a:srgbClr val="FFFFFF"/>
                </a:solidFill>
                <a:latin typeface="Space Mono"/>
              </a:rPr>
              <a:t>output:</a:t>
            </a:r>
          </a:p>
          <a:p>
            <a:pPr algn="l"/>
            <a:r>
              <a:rPr sz="1100" b="0" i="0">
                <a:solidFill>
                  <a:srgbClr val="FFFFFF"/>
                </a:solidFill>
                <a:latin typeface="Space Mono"/>
              </a:rPr>
              <a:t>  - uses: redis.write</a:t>
            </a:r>
          </a:p>
          <a:p>
            <a:pPr algn="l"/>
            <a:r>
              <a:rPr sz="1100" b="0" i="0">
                <a:solidFill>
                  <a:srgbClr val="FFFFFF"/>
                </a:solidFill>
                <a:latin typeface="Space Mono"/>
              </a:rPr>
              <a:t>    with:</a:t>
            </a:r>
          </a:p>
          <a:p>
            <a:pPr algn="l"/>
            <a:r>
              <a:rPr sz="1100" b="0" i="0">
                <a:solidFill>
                  <a:srgbClr val="FFFFFF"/>
                </a:solidFill>
                <a:latin typeface="Space Mono"/>
              </a:rPr>
              <a:t>      connection: target</a:t>
            </a:r>
          </a:p>
          <a:p>
            <a:pPr algn="l"/>
            <a:r>
              <a:rPr sz="1100" b="0" i="0">
                <a:solidFill>
                  <a:srgbClr val="FFFFFF"/>
                </a:solidFill>
                <a:latin typeface="Space Mono"/>
              </a:rPr>
              <a:t>      data_type: json</a:t>
            </a:r>
          </a:p>
          <a:p>
            <a:pPr algn="l"/>
            <a:r>
              <a:rPr sz="1100" b="0" i="0">
                <a:solidFill>
                  <a:srgbClr val="FFFFFF"/>
                </a:solidFill>
                <a:latin typeface="Space Mono"/>
              </a:rPr>
              <a:t>      key:</a:t>
            </a:r>
          </a:p>
          <a:p>
            <a:pPr algn="l"/>
            <a:r>
              <a:rPr sz="1100" b="0" i="0">
                <a:solidFill>
                  <a:srgbClr val="FFFFFF"/>
                </a:solidFill>
                <a:latin typeface="Space Mono"/>
              </a:rPr>
              <a:t>        expression: concat(['holding:', to_string(customer_id), ':', to_string(security_id)])</a:t>
            </a:r>
          </a:p>
          <a:p>
            <a:pPr algn="l"/>
            <a:r>
              <a:rPr sz="1100" b="0" i="0">
                <a:solidFill>
                  <a:srgbClr val="FFFFFF"/>
                </a:solidFill>
                <a:latin typeface="Space Mono"/>
              </a:rPr>
              <a:t>        language:   jmespath</a:t>
            </a:r>
          </a:p>
          <a:p>
            <a:pPr algn="l"/>
            <a:r>
              <a:rPr sz="1100" b="0" i="0">
                <a:solidFill>
                  <a:srgbClr val="FFFFFF"/>
                </a:solidFill>
                <a:latin typeface="Space Mono"/>
              </a:rPr>
              <a:t/>
            </a:r>
          </a:p>
        </p:txBody>
      </p:sp>
      <p:sp>
        <p:nvSpPr>
          <p:cNvPr id="14" name="Rectangle 13"/>
          <p:cNvSpPr/>
          <p:nvPr/>
        </p:nvSpPr>
        <p:spPr>
          <a:xfrm>
            <a:off x="8046720" y="1828800"/>
            <a:ext cx="3657600" cy="338328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828800"/>
            <a:ext cx="164592" cy="338328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2011680"/>
            <a:ext cx="3108960" cy="365760"/>
          </a:xfrm>
          <a:prstGeom prst="rect">
            <a:avLst/>
          </a:prstGeom>
          <a:noFill/>
        </p:spPr>
        <p:txBody>
          <a:bodyPr wrap="square" lIns="0" rIns="0" tIns="0" bIns="0" anchor="t">
            <a:spAutoFit/>
          </a:bodyPr>
          <a:lstStyle/>
          <a:p>
            <a:pPr algn="l"/>
            <a:r>
              <a:rPr sz="1100" b="1" i="0">
                <a:solidFill>
                  <a:srgbClr val="FF4438"/>
                </a:solidFill>
                <a:latin typeface="Space Mono"/>
              </a:rPr>
              <a:t>WHAT THIS ONE FILE GIVES YOU</a:t>
            </a:r>
          </a:p>
        </p:txBody>
      </p:sp>
      <p:sp>
        <p:nvSpPr>
          <p:cNvPr id="17" name="TextBox 16"/>
          <p:cNvSpPr txBox="1"/>
          <p:nvPr/>
        </p:nvSpPr>
        <p:spPr>
          <a:xfrm>
            <a:off x="8412480" y="2468880"/>
            <a:ext cx="3108960" cy="256032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Keeps holding:{cust}:{sec} in sync forever</a:t>
            </a:r>
          </a:p>
          <a:p>
            <a:pPr algn="l">
              <a:spcAft>
                <a:spcPts val="600"/>
              </a:spcAft>
            </a:pPr>
            <a:r>
              <a:rPr sz="1000" b="1">
                <a:solidFill>
                  <a:srgbClr val="FF4438"/>
                </a:solidFill>
                <a:latin typeface="Space Mono"/>
              </a:rPr>
              <a:t>■  </a:t>
            </a:r>
            <a:r>
              <a:rPr sz="1200" b="0">
                <a:solidFill>
                  <a:srgbClr val="163341"/>
                </a:solidFill>
                <a:latin typeface="Space Grotesk"/>
              </a:rPr>
              <a:t>Reviewable by DBAs, security, auditors</a:t>
            </a:r>
          </a:p>
          <a:p>
            <a:pPr algn="l">
              <a:spcAft>
                <a:spcPts val="600"/>
              </a:spcAft>
            </a:pPr>
            <a:r>
              <a:rPr sz="1000" b="1">
                <a:solidFill>
                  <a:srgbClr val="FF4438"/>
                </a:solidFill>
                <a:latin typeface="Space Mono"/>
              </a:rPr>
              <a:t>■  </a:t>
            </a:r>
            <a:r>
              <a:rPr sz="1200" b="0">
                <a:solidFill>
                  <a:srgbClr val="163341"/>
                </a:solidFill>
                <a:latin typeface="Space Grotesk"/>
              </a:rPr>
              <a:t>No compiled artefact, no Kafka app</a:t>
            </a:r>
          </a:p>
          <a:p>
            <a:pPr algn="l">
              <a:spcAft>
                <a:spcPts val="600"/>
              </a:spcAft>
            </a:pPr>
            <a:r>
              <a:rPr sz="1000" b="1">
                <a:solidFill>
                  <a:srgbClr val="FF4438"/>
                </a:solidFill>
                <a:latin typeface="Space Mono"/>
              </a:rPr>
              <a:t>■  </a:t>
            </a:r>
            <a:r>
              <a:rPr sz="1200" b="0">
                <a:solidFill>
                  <a:srgbClr val="163341"/>
                </a:solidFill>
                <a:latin typeface="Space Grotesk"/>
              </a:rPr>
              <a:t>Versioned in git like any other config</a:t>
            </a:r>
          </a:p>
        </p:txBody>
      </p:sp>
      <p:sp>
        <p:nvSpPr>
          <p:cNvPr id="18" name="Rectangle 17"/>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TALK TRACK</a:t>
            </a:r>
          </a:p>
        </p:txBody>
      </p:sp>
      <p:sp>
        <p:nvSpPr>
          <p:cNvPr id="21" name="TextBox 20"/>
          <p:cNvSpPr txBox="1"/>
          <p:nvPr/>
        </p:nvSpPr>
        <p:spPr>
          <a:xfrm>
            <a:off x="777240" y="5623560"/>
            <a:ext cx="10972800" cy="594360"/>
          </a:xfrm>
          <a:prstGeom prst="rect">
            <a:avLst/>
          </a:prstGeom>
          <a:noFill/>
        </p:spPr>
        <p:txBody>
          <a:bodyPr wrap="square" lIns="0" rIns="0" tIns="0" bIns="0" anchor="t">
            <a:spAutoFit/>
          </a:bodyPr>
          <a:lstStyle/>
          <a:p>
            <a:pPr algn="l"/>
            <a:r>
              <a:rPr sz="1100" b="0" i="0">
                <a:solidFill>
                  <a:srgbClr val="163341"/>
                </a:solidFill>
                <a:latin typeface="Space Grotesk"/>
              </a:rPr>
              <a:t>This is literally one of the five jobs we deploy in the demo. Ten lines. Your DBAs can read it, your auditors can read it, your security team can read it. There is no compiled artifact, no custom Kafka Streams app to maintain. Compare this to one cache-aside helper class in your Java codebase — it is already longer.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09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PUBLIC REFERENCE: REDIS.IO / DEMO-CENTER</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The official RDI tour — same flow, your data</a:t>
            </a:r>
          </a:p>
        </p:txBody>
      </p:sp>
      <p:sp>
        <p:nvSpPr>
          <p:cNvPr id="12" name="TextBox 11"/>
          <p:cNvSpPr txBox="1"/>
          <p:nvPr/>
        </p:nvSpPr>
        <p:spPr>
          <a:xfrm>
            <a:off x="457200" y="1828800"/>
            <a:ext cx="548640" cy="457200"/>
          </a:xfrm>
          <a:prstGeom prst="rect">
            <a:avLst/>
          </a:prstGeom>
          <a:noFill/>
        </p:spPr>
        <p:txBody>
          <a:bodyPr wrap="square" lIns="0" rIns="0" tIns="0" bIns="0" anchor="t">
            <a:spAutoFit/>
          </a:bodyPr>
          <a:lstStyle/>
          <a:p>
            <a:pPr algn="l"/>
            <a:r>
              <a:rPr sz="2000" b="1" i="0">
                <a:solidFill>
                  <a:srgbClr val="FF4438"/>
                </a:solidFill>
                <a:latin typeface="Space Mono"/>
              </a:rPr>
              <a:t>01</a:t>
            </a:r>
          </a:p>
        </p:txBody>
      </p:sp>
      <p:sp>
        <p:nvSpPr>
          <p:cNvPr id="13" name="TextBox 12"/>
          <p:cNvSpPr txBox="1"/>
          <p:nvPr/>
        </p:nvSpPr>
        <p:spPr>
          <a:xfrm>
            <a:off x="1005840" y="1901952"/>
            <a:ext cx="5943600" cy="457200"/>
          </a:xfrm>
          <a:prstGeom prst="rect">
            <a:avLst/>
          </a:prstGeom>
          <a:noFill/>
        </p:spPr>
        <p:txBody>
          <a:bodyPr wrap="square" lIns="0" rIns="0" tIns="0" bIns="0" anchor="t">
            <a:spAutoFit/>
          </a:bodyPr>
          <a:lstStyle/>
          <a:p>
            <a:pPr algn="l"/>
            <a:r>
              <a:rPr sz="1300" b="0" i="0">
                <a:solidFill>
                  <a:srgbClr val="163341"/>
                </a:solidFill>
                <a:latin typeface="Space Grotesk"/>
              </a:rPr>
              <a:t>Add a Redis Enterprise cluster to Redis Insight.</a:t>
            </a:r>
          </a:p>
        </p:txBody>
      </p:sp>
      <p:sp>
        <p:nvSpPr>
          <p:cNvPr id="14" name="TextBox 13"/>
          <p:cNvSpPr txBox="1"/>
          <p:nvPr/>
        </p:nvSpPr>
        <p:spPr>
          <a:xfrm>
            <a:off x="457200" y="2286000"/>
            <a:ext cx="548640" cy="457200"/>
          </a:xfrm>
          <a:prstGeom prst="rect">
            <a:avLst/>
          </a:prstGeom>
          <a:noFill/>
        </p:spPr>
        <p:txBody>
          <a:bodyPr wrap="square" lIns="0" rIns="0" tIns="0" bIns="0" anchor="t">
            <a:spAutoFit/>
          </a:bodyPr>
          <a:lstStyle/>
          <a:p>
            <a:pPr algn="l"/>
            <a:r>
              <a:rPr sz="2000" b="1" i="0">
                <a:solidFill>
                  <a:srgbClr val="FF4438"/>
                </a:solidFill>
                <a:latin typeface="Space Mono"/>
              </a:rPr>
              <a:t>02</a:t>
            </a:r>
          </a:p>
        </p:txBody>
      </p:sp>
      <p:sp>
        <p:nvSpPr>
          <p:cNvPr id="15" name="TextBox 14"/>
          <p:cNvSpPr txBox="1"/>
          <p:nvPr/>
        </p:nvSpPr>
        <p:spPr>
          <a:xfrm>
            <a:off x="1005840" y="2359152"/>
            <a:ext cx="5943600" cy="457200"/>
          </a:xfrm>
          <a:prstGeom prst="rect">
            <a:avLst/>
          </a:prstGeom>
          <a:noFill/>
        </p:spPr>
        <p:txBody>
          <a:bodyPr wrap="square" lIns="0" rIns="0" tIns="0" bIns="0" anchor="t">
            <a:spAutoFit/>
          </a:bodyPr>
          <a:lstStyle/>
          <a:p>
            <a:pPr algn="l"/>
            <a:r>
              <a:rPr sz="1300" b="0" i="0">
                <a:solidFill>
                  <a:srgbClr val="163341"/>
                </a:solidFill>
                <a:latin typeface="Space Grotesk"/>
              </a:rPr>
              <a:t>Connect to the RDI control endpoint — Insight detects an empty pipeline.</a:t>
            </a:r>
          </a:p>
        </p:txBody>
      </p:sp>
      <p:sp>
        <p:nvSpPr>
          <p:cNvPr id="16" name="TextBox 15"/>
          <p:cNvSpPr txBox="1"/>
          <p:nvPr/>
        </p:nvSpPr>
        <p:spPr>
          <a:xfrm>
            <a:off x="457200" y="2743200"/>
            <a:ext cx="548640" cy="457200"/>
          </a:xfrm>
          <a:prstGeom prst="rect">
            <a:avLst/>
          </a:prstGeom>
          <a:noFill/>
        </p:spPr>
        <p:txBody>
          <a:bodyPr wrap="square" lIns="0" rIns="0" tIns="0" bIns="0" anchor="t">
            <a:spAutoFit/>
          </a:bodyPr>
          <a:lstStyle/>
          <a:p>
            <a:pPr algn="l"/>
            <a:r>
              <a:rPr sz="2000" b="1" i="0">
                <a:solidFill>
                  <a:srgbClr val="FF4438"/>
                </a:solidFill>
                <a:latin typeface="Space Mono"/>
              </a:rPr>
              <a:t>03</a:t>
            </a:r>
          </a:p>
        </p:txBody>
      </p:sp>
      <p:sp>
        <p:nvSpPr>
          <p:cNvPr id="17" name="TextBox 16"/>
          <p:cNvSpPr txBox="1"/>
          <p:nvPr/>
        </p:nvSpPr>
        <p:spPr>
          <a:xfrm>
            <a:off x="1005840" y="2816352"/>
            <a:ext cx="5943600" cy="457200"/>
          </a:xfrm>
          <a:prstGeom prst="rect">
            <a:avLst/>
          </a:prstGeom>
          <a:noFill/>
        </p:spPr>
        <p:txBody>
          <a:bodyPr wrap="square" lIns="0" rIns="0" tIns="0" bIns="0" anchor="t">
            <a:spAutoFit/>
          </a:bodyPr>
          <a:lstStyle/>
          <a:p>
            <a:pPr algn="l"/>
            <a:r>
              <a:rPr sz="1300" b="0" i="0">
                <a:solidFill>
                  <a:srgbClr val="163341"/>
                </a:solidFill>
                <a:latin typeface="Space Grotesk"/>
              </a:rPr>
              <a:t>Open the pipeline editor — left pane: source tables, right pane: generated output.</a:t>
            </a:r>
          </a:p>
        </p:txBody>
      </p:sp>
      <p:sp>
        <p:nvSpPr>
          <p:cNvPr id="18" name="TextBox 17"/>
          <p:cNvSpPr txBox="1"/>
          <p:nvPr/>
        </p:nvSpPr>
        <p:spPr>
          <a:xfrm>
            <a:off x="457200" y="3200400"/>
            <a:ext cx="548640" cy="457200"/>
          </a:xfrm>
          <a:prstGeom prst="rect">
            <a:avLst/>
          </a:prstGeom>
          <a:noFill/>
        </p:spPr>
        <p:txBody>
          <a:bodyPr wrap="square" lIns="0" rIns="0" tIns="0" bIns="0" anchor="t">
            <a:spAutoFit/>
          </a:bodyPr>
          <a:lstStyle/>
          <a:p>
            <a:pPr algn="l"/>
            <a:r>
              <a:rPr sz="2000" b="1" i="0">
                <a:solidFill>
                  <a:srgbClr val="FF4438"/>
                </a:solidFill>
                <a:latin typeface="Space Mono"/>
              </a:rPr>
              <a:t>04</a:t>
            </a:r>
          </a:p>
        </p:txBody>
      </p:sp>
      <p:sp>
        <p:nvSpPr>
          <p:cNvPr id="19" name="TextBox 18"/>
          <p:cNvSpPr txBox="1"/>
          <p:nvPr/>
        </p:nvSpPr>
        <p:spPr>
          <a:xfrm>
            <a:off x="1005840" y="3273552"/>
            <a:ext cx="5943600" cy="457200"/>
          </a:xfrm>
          <a:prstGeom prst="rect">
            <a:avLst/>
          </a:prstGeom>
          <a:noFill/>
        </p:spPr>
        <p:txBody>
          <a:bodyPr wrap="square" lIns="0" rIns="0" tIns="0" bIns="0" anchor="t">
            <a:spAutoFit/>
          </a:bodyPr>
          <a:lstStyle/>
          <a:p>
            <a:pPr algn="l"/>
            <a:r>
              <a:rPr sz="1300" b="0" i="0">
                <a:solidFill>
                  <a:srgbClr val="163341"/>
                </a:solidFill>
                <a:latin typeface="Space Grotesk"/>
              </a:rPr>
              <a:t>Drag a transformation (rename / filter / project) — Insight rewrites the YAML.</a:t>
            </a:r>
          </a:p>
        </p:txBody>
      </p:sp>
      <p:sp>
        <p:nvSpPr>
          <p:cNvPr id="20" name="TextBox 19"/>
          <p:cNvSpPr txBox="1"/>
          <p:nvPr/>
        </p:nvSpPr>
        <p:spPr>
          <a:xfrm>
            <a:off x="457200" y="3657600"/>
            <a:ext cx="548640" cy="457200"/>
          </a:xfrm>
          <a:prstGeom prst="rect">
            <a:avLst/>
          </a:prstGeom>
          <a:noFill/>
        </p:spPr>
        <p:txBody>
          <a:bodyPr wrap="square" lIns="0" rIns="0" tIns="0" bIns="0" anchor="t">
            <a:spAutoFit/>
          </a:bodyPr>
          <a:lstStyle/>
          <a:p>
            <a:pPr algn="l"/>
            <a:r>
              <a:rPr sz="2000" b="1" i="0">
                <a:solidFill>
                  <a:srgbClr val="FF4438"/>
                </a:solidFill>
                <a:latin typeface="Space Mono"/>
              </a:rPr>
              <a:t>05</a:t>
            </a:r>
          </a:p>
        </p:txBody>
      </p:sp>
      <p:sp>
        <p:nvSpPr>
          <p:cNvPr id="21" name="TextBox 20"/>
          <p:cNvSpPr txBox="1"/>
          <p:nvPr/>
        </p:nvSpPr>
        <p:spPr>
          <a:xfrm>
            <a:off x="1005840" y="3730752"/>
            <a:ext cx="5943600" cy="457200"/>
          </a:xfrm>
          <a:prstGeom prst="rect">
            <a:avLst/>
          </a:prstGeom>
          <a:noFill/>
        </p:spPr>
        <p:txBody>
          <a:bodyPr wrap="square" lIns="0" rIns="0" tIns="0" bIns="0" anchor="t">
            <a:spAutoFit/>
          </a:bodyPr>
          <a:lstStyle/>
          <a:p>
            <a:pPr algn="l"/>
            <a:r>
              <a:rPr sz="1300" b="0" i="0">
                <a:solidFill>
                  <a:srgbClr val="163341"/>
                </a:solidFill>
                <a:latin typeface="Space Grotesk"/>
              </a:rPr>
              <a:t>Click Deploy. RDI validates, snapshots, then streams CDC.</a:t>
            </a:r>
          </a:p>
        </p:txBody>
      </p:sp>
      <p:sp>
        <p:nvSpPr>
          <p:cNvPr id="22" name="TextBox 21"/>
          <p:cNvSpPr txBox="1"/>
          <p:nvPr/>
        </p:nvSpPr>
        <p:spPr>
          <a:xfrm>
            <a:off x="457200" y="4114800"/>
            <a:ext cx="548640" cy="457200"/>
          </a:xfrm>
          <a:prstGeom prst="rect">
            <a:avLst/>
          </a:prstGeom>
          <a:noFill/>
        </p:spPr>
        <p:txBody>
          <a:bodyPr wrap="square" lIns="0" rIns="0" tIns="0" bIns="0" anchor="t">
            <a:spAutoFit/>
          </a:bodyPr>
          <a:lstStyle/>
          <a:p>
            <a:pPr algn="l"/>
            <a:r>
              <a:rPr sz="2000" b="1" i="0">
                <a:solidFill>
                  <a:srgbClr val="FF4438"/>
                </a:solidFill>
                <a:latin typeface="Space Mono"/>
              </a:rPr>
              <a:t>06</a:t>
            </a:r>
          </a:p>
        </p:txBody>
      </p:sp>
      <p:sp>
        <p:nvSpPr>
          <p:cNvPr id="23" name="TextBox 22"/>
          <p:cNvSpPr txBox="1"/>
          <p:nvPr/>
        </p:nvSpPr>
        <p:spPr>
          <a:xfrm>
            <a:off x="1005840" y="4187952"/>
            <a:ext cx="5943600" cy="457200"/>
          </a:xfrm>
          <a:prstGeom prst="rect">
            <a:avLst/>
          </a:prstGeom>
          <a:noFill/>
        </p:spPr>
        <p:txBody>
          <a:bodyPr wrap="square" lIns="0" rIns="0" tIns="0" bIns="0" anchor="t">
            <a:spAutoFit/>
          </a:bodyPr>
          <a:lstStyle/>
          <a:p>
            <a:pPr algn="l"/>
            <a:r>
              <a:rPr sz="1300" b="0" i="0">
                <a:solidFill>
                  <a:srgbClr val="163341"/>
                </a:solidFill>
                <a:latin typeface="Space Grotesk"/>
              </a:rPr>
              <a:t>The dashboard inside Insight shows throughput, lag and DLQ per table.</a:t>
            </a:r>
          </a:p>
        </p:txBody>
      </p:sp>
      <p:sp>
        <p:nvSpPr>
          <p:cNvPr id="24" name="Rectangle 23"/>
          <p:cNvSpPr/>
          <p:nvPr/>
        </p:nvSpPr>
        <p:spPr>
          <a:xfrm>
            <a:off x="7498079" y="1828800"/>
            <a:ext cx="4206240" cy="338328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98079" y="1828800"/>
            <a:ext cx="164592" cy="338328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39" y="2011680"/>
            <a:ext cx="3657600" cy="365760"/>
          </a:xfrm>
          <a:prstGeom prst="rect">
            <a:avLst/>
          </a:prstGeom>
          <a:noFill/>
        </p:spPr>
        <p:txBody>
          <a:bodyPr wrap="square" lIns="0" rIns="0" tIns="0" bIns="0" anchor="t">
            <a:spAutoFit/>
          </a:bodyPr>
          <a:lstStyle/>
          <a:p>
            <a:pPr algn="l"/>
            <a:r>
              <a:rPr sz="1100" b="1" i="0">
                <a:solidFill>
                  <a:srgbClr val="FF4438"/>
                </a:solidFill>
                <a:latin typeface="Space Mono"/>
              </a:rPr>
              <a:t>WHY THIS MATTERS FOR HDFC</a:t>
            </a:r>
          </a:p>
        </p:txBody>
      </p:sp>
      <p:sp>
        <p:nvSpPr>
          <p:cNvPr id="27" name="TextBox 26"/>
          <p:cNvSpPr txBox="1"/>
          <p:nvPr/>
        </p:nvSpPr>
        <p:spPr>
          <a:xfrm>
            <a:off x="7863839" y="2468880"/>
            <a:ext cx="3657600" cy="256032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Same UI in dev, staging, prod</a:t>
            </a:r>
          </a:p>
          <a:p>
            <a:pPr algn="l">
              <a:spcAft>
                <a:spcPts val="600"/>
              </a:spcAft>
            </a:pPr>
            <a:r>
              <a:rPr sz="1000" b="1">
                <a:solidFill>
                  <a:srgbClr val="FF4438"/>
                </a:solidFill>
                <a:latin typeface="Space Mono"/>
              </a:rPr>
              <a:t>■  </a:t>
            </a:r>
            <a:r>
              <a:rPr sz="1200" b="0">
                <a:solidFill>
                  <a:srgbClr val="163341"/>
                </a:solidFill>
                <a:latin typeface="Space Grotesk"/>
              </a:rPr>
              <a:t>Test pipeline against latest CDC on every save</a:t>
            </a:r>
          </a:p>
          <a:p>
            <a:pPr algn="l">
              <a:spcAft>
                <a:spcPts val="600"/>
              </a:spcAft>
            </a:pPr>
            <a:r>
              <a:rPr sz="1000" b="1">
                <a:solidFill>
                  <a:srgbClr val="FF4438"/>
                </a:solidFill>
                <a:latin typeface="Space Mono"/>
              </a:rPr>
              <a:t>■  </a:t>
            </a:r>
            <a:r>
              <a:rPr sz="1200" b="0">
                <a:solidFill>
                  <a:srgbClr val="163341"/>
                </a:solidFill>
                <a:latin typeface="Space Grotesk"/>
              </a:rPr>
              <a:t>Dev writes YAML and verifies it — no Kafka team needed</a:t>
            </a:r>
          </a:p>
          <a:p>
            <a:pPr algn="l">
              <a:spcAft>
                <a:spcPts val="600"/>
              </a:spcAft>
            </a:pPr>
            <a:r>
              <a:rPr sz="1000" b="1">
                <a:solidFill>
                  <a:srgbClr val="FF4438"/>
                </a:solidFill>
                <a:latin typeface="Space Mono"/>
              </a:rPr>
              <a:t>■  </a:t>
            </a:r>
            <a:r>
              <a:rPr sz="1200" b="0">
                <a:solidFill>
                  <a:srgbClr val="163341"/>
                </a:solidFill>
                <a:latin typeface="Space Grotesk"/>
              </a:rPr>
              <a:t>Insight ships free with Redis Enterprise</a:t>
            </a:r>
          </a:p>
        </p:txBody>
      </p:sp>
      <p:sp>
        <p:nvSpPr>
          <p:cNvPr id="28" name="Rectangle 27"/>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TALK TRACK</a:t>
            </a:r>
          </a:p>
        </p:txBody>
      </p:sp>
      <p:sp>
        <p:nvSpPr>
          <p:cNvPr id="31" name="TextBox 30"/>
          <p:cNvSpPr txBox="1"/>
          <p:nvPr/>
        </p:nvSpPr>
        <p:spPr>
          <a:xfrm>
            <a:off x="777240" y="5623560"/>
            <a:ext cx="10972800" cy="594360"/>
          </a:xfrm>
          <a:prstGeom prst="rect">
            <a:avLst/>
          </a:prstGeom>
          <a:noFill/>
        </p:spPr>
        <p:txBody>
          <a:bodyPr wrap="square" lIns="0" rIns="0" tIns="0" bIns="0" anchor="t">
            <a:spAutoFit/>
          </a:bodyPr>
          <a:lstStyle/>
          <a:p>
            <a:pPr algn="l"/>
            <a:r>
              <a:rPr sz="1100" b="0" i="0">
                <a:solidFill>
                  <a:srgbClr val="163341"/>
                </a:solidFill>
                <a:latin typeface="Space Grotesk"/>
              </a:rPr>
              <a:t>Before we go to the laptop: the public Redis demo center shows exactly this workflow against a sample database. We are going to do the same flow but with a portfolio dataset that mirrors your business. The UI is Redis Insight — the same tool that already ships with Redis Enterprise. When you deploy RDI in production, your engineers will be using a tool they already know.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10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LIVE DEMO</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What you will see in the next 25 minutes</a:t>
            </a:r>
          </a:p>
        </p:txBody>
      </p:sp>
      <p:sp>
        <p:nvSpPr>
          <p:cNvPr id="12" name="Rectangle 11"/>
          <p:cNvSpPr/>
          <p:nvPr/>
        </p:nvSpPr>
        <p:spPr>
          <a:xfrm>
            <a:off x="457200" y="1737360"/>
            <a:ext cx="3657600" cy="164592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737360"/>
            <a:ext cx="3657600" cy="292608"/>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83080"/>
            <a:ext cx="3657600" cy="228600"/>
          </a:xfrm>
          <a:prstGeom prst="rect">
            <a:avLst/>
          </a:prstGeom>
          <a:noFill/>
        </p:spPr>
        <p:txBody>
          <a:bodyPr wrap="square" lIns="0" rIns="0" tIns="0" bIns="0" anchor="t">
            <a:spAutoFit/>
          </a:bodyPr>
          <a:lstStyle/>
          <a:p>
            <a:pPr algn="l"/>
            <a:r>
              <a:rPr sz="1000" b="1" i="0">
                <a:solidFill>
                  <a:srgbClr val="DCFF1E"/>
                </a:solidFill>
                <a:latin typeface="Space Mono"/>
              </a:rPr>
              <a:t>SCENARIO 1</a:t>
            </a:r>
          </a:p>
        </p:txBody>
      </p:sp>
      <p:sp>
        <p:nvSpPr>
          <p:cNvPr id="15" name="TextBox 14"/>
          <p:cNvSpPr txBox="1"/>
          <p:nvPr/>
        </p:nvSpPr>
        <p:spPr>
          <a:xfrm>
            <a:off x="685800" y="2103120"/>
            <a:ext cx="3200400" cy="365760"/>
          </a:xfrm>
          <a:prstGeom prst="rect">
            <a:avLst/>
          </a:prstGeom>
          <a:noFill/>
        </p:spPr>
        <p:txBody>
          <a:bodyPr wrap="square" lIns="0" rIns="0" tIns="0" bIns="0" anchor="t">
            <a:spAutoFit/>
          </a:bodyPr>
          <a:lstStyle/>
          <a:p>
            <a:pPr algn="l"/>
            <a:r>
              <a:rPr sz="1500" b="1" i="0">
                <a:solidFill>
                  <a:srgbClr val="091A23"/>
                </a:solidFill>
                <a:latin typeface="Space Grotesk"/>
              </a:rPr>
              <a:t>Initial snapshot</a:t>
            </a:r>
          </a:p>
        </p:txBody>
      </p:sp>
      <p:sp>
        <p:nvSpPr>
          <p:cNvPr id="16" name="TextBox 15"/>
          <p:cNvSpPr txBox="1"/>
          <p:nvPr/>
        </p:nvSpPr>
        <p:spPr>
          <a:xfrm>
            <a:off x="685800" y="2468880"/>
            <a:ext cx="3200400" cy="822960"/>
          </a:xfrm>
          <a:prstGeom prst="rect">
            <a:avLst/>
          </a:prstGeom>
          <a:noFill/>
        </p:spPr>
        <p:txBody>
          <a:bodyPr wrap="square" lIns="0" rIns="0" tIns="0" bIns="0" anchor="t">
            <a:spAutoFit/>
          </a:bodyPr>
          <a:lstStyle/>
          <a:p>
            <a:pPr algn="l"/>
            <a:r>
              <a:rPr sz="1100" b="0" i="0">
                <a:solidFill>
                  <a:srgbClr val="163341"/>
                </a:solidFill>
                <a:latin typeface="Space Grotesk"/>
              </a:rPr>
              <a:t>Bring up the stack. RDI prefetches all customers, securities, holdings, trades and prices. Open the dashboard — everything is already there.</a:t>
            </a:r>
          </a:p>
        </p:txBody>
      </p:sp>
      <p:sp>
        <p:nvSpPr>
          <p:cNvPr id="17" name="Rectangle 16"/>
          <p:cNvSpPr/>
          <p:nvPr/>
        </p:nvSpPr>
        <p:spPr>
          <a:xfrm>
            <a:off x="4251960" y="1737360"/>
            <a:ext cx="3657600" cy="164592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60" y="1737360"/>
            <a:ext cx="3657600" cy="292608"/>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1783080"/>
            <a:ext cx="3657600" cy="228600"/>
          </a:xfrm>
          <a:prstGeom prst="rect">
            <a:avLst/>
          </a:prstGeom>
          <a:noFill/>
        </p:spPr>
        <p:txBody>
          <a:bodyPr wrap="square" lIns="0" rIns="0" tIns="0" bIns="0" anchor="t">
            <a:spAutoFit/>
          </a:bodyPr>
          <a:lstStyle/>
          <a:p>
            <a:pPr algn="l"/>
            <a:r>
              <a:rPr sz="1000" b="1" i="0">
                <a:solidFill>
                  <a:srgbClr val="DCFF1E"/>
                </a:solidFill>
                <a:latin typeface="Space Mono"/>
              </a:rPr>
              <a:t>SCENARIO 2</a:t>
            </a:r>
          </a:p>
        </p:txBody>
      </p:sp>
      <p:sp>
        <p:nvSpPr>
          <p:cNvPr id="20" name="TextBox 19"/>
          <p:cNvSpPr txBox="1"/>
          <p:nvPr/>
        </p:nvSpPr>
        <p:spPr>
          <a:xfrm>
            <a:off x="4480560" y="2103120"/>
            <a:ext cx="3200400" cy="365760"/>
          </a:xfrm>
          <a:prstGeom prst="rect">
            <a:avLst/>
          </a:prstGeom>
          <a:noFill/>
        </p:spPr>
        <p:txBody>
          <a:bodyPr wrap="square" lIns="0" rIns="0" tIns="0" bIns="0" anchor="t">
            <a:spAutoFit/>
          </a:bodyPr>
          <a:lstStyle/>
          <a:p>
            <a:pPr algn="l"/>
            <a:r>
              <a:rPr sz="1500" b="1" i="0">
                <a:solidFill>
                  <a:srgbClr val="091A23"/>
                </a:solidFill>
                <a:latin typeface="Space Grotesk"/>
              </a:rPr>
              <a:t>Live trade</a:t>
            </a:r>
          </a:p>
        </p:txBody>
      </p:sp>
      <p:sp>
        <p:nvSpPr>
          <p:cNvPr id="21" name="TextBox 20"/>
          <p:cNvSpPr txBox="1"/>
          <p:nvPr/>
        </p:nvSpPr>
        <p:spPr>
          <a:xfrm>
            <a:off x="4480560" y="2468880"/>
            <a:ext cx="3200400" cy="822960"/>
          </a:xfrm>
          <a:prstGeom prst="rect">
            <a:avLst/>
          </a:prstGeom>
          <a:noFill/>
        </p:spPr>
        <p:txBody>
          <a:bodyPr wrap="square" lIns="0" rIns="0" tIns="0" bIns="0" anchor="t">
            <a:spAutoFit/>
          </a:bodyPr>
          <a:lstStyle/>
          <a:p>
            <a:pPr algn="l"/>
            <a:r>
              <a:rPr sz="1100" b="0" i="0">
                <a:solidFill>
                  <a:srgbClr val="163341"/>
                </a:solidFill>
                <a:latin typeface="Space Grotesk"/>
              </a:rPr>
              <a:t>Place a BUY in Postgres. Watch the trade stream, the holding JSON, and the portfolio KPIs update within ~1 second.</a:t>
            </a:r>
          </a:p>
        </p:txBody>
      </p:sp>
      <p:sp>
        <p:nvSpPr>
          <p:cNvPr id="22" name="Rectangle 21"/>
          <p:cNvSpPr/>
          <p:nvPr/>
        </p:nvSpPr>
        <p:spPr>
          <a:xfrm>
            <a:off x="8046720" y="1737360"/>
            <a:ext cx="3657600" cy="164592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1737360"/>
            <a:ext cx="3657600" cy="292608"/>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1783080"/>
            <a:ext cx="3657600" cy="228600"/>
          </a:xfrm>
          <a:prstGeom prst="rect">
            <a:avLst/>
          </a:prstGeom>
          <a:noFill/>
        </p:spPr>
        <p:txBody>
          <a:bodyPr wrap="square" lIns="0" rIns="0" tIns="0" bIns="0" anchor="t">
            <a:spAutoFit/>
          </a:bodyPr>
          <a:lstStyle/>
          <a:p>
            <a:pPr algn="l"/>
            <a:r>
              <a:rPr sz="1000" b="1" i="0">
                <a:solidFill>
                  <a:srgbClr val="DCFF1E"/>
                </a:solidFill>
                <a:latin typeface="Space Mono"/>
              </a:rPr>
              <a:t>SCENARIO 3</a:t>
            </a:r>
          </a:p>
        </p:txBody>
      </p:sp>
      <p:sp>
        <p:nvSpPr>
          <p:cNvPr id="25" name="TextBox 24"/>
          <p:cNvSpPr txBox="1"/>
          <p:nvPr/>
        </p:nvSpPr>
        <p:spPr>
          <a:xfrm>
            <a:off x="8275320" y="2103120"/>
            <a:ext cx="3200400" cy="365760"/>
          </a:xfrm>
          <a:prstGeom prst="rect">
            <a:avLst/>
          </a:prstGeom>
          <a:noFill/>
        </p:spPr>
        <p:txBody>
          <a:bodyPr wrap="square" lIns="0" rIns="0" tIns="0" bIns="0" anchor="t">
            <a:spAutoFit/>
          </a:bodyPr>
          <a:lstStyle/>
          <a:p>
            <a:pPr algn="l"/>
            <a:r>
              <a:rPr sz="1500" b="1" i="0">
                <a:solidFill>
                  <a:srgbClr val="091A23"/>
                </a:solidFill>
                <a:latin typeface="Space Grotesk"/>
              </a:rPr>
              <a:t>Live price tick</a:t>
            </a:r>
          </a:p>
        </p:txBody>
      </p:sp>
      <p:sp>
        <p:nvSpPr>
          <p:cNvPr id="26" name="TextBox 25"/>
          <p:cNvSpPr txBox="1"/>
          <p:nvPr/>
        </p:nvSpPr>
        <p:spPr>
          <a:xfrm>
            <a:off x="8275320" y="2468880"/>
            <a:ext cx="3200400" cy="822960"/>
          </a:xfrm>
          <a:prstGeom prst="rect">
            <a:avLst/>
          </a:prstGeom>
          <a:noFill/>
        </p:spPr>
        <p:txBody>
          <a:bodyPr wrap="square" lIns="0" rIns="0" tIns="0" bIns="0" anchor="t">
            <a:spAutoFit/>
          </a:bodyPr>
          <a:lstStyle/>
          <a:p>
            <a:pPr algn="l"/>
            <a:r>
              <a:rPr sz="1100" b="0" i="0">
                <a:solidFill>
                  <a:srgbClr val="163341"/>
                </a:solidFill>
                <a:latin typeface="Space Grotesk"/>
              </a:rPr>
              <a:t>Run the market-data simulator. P&amp;L updates in real time on the dashboard without anyone refreshing.</a:t>
            </a:r>
          </a:p>
        </p:txBody>
      </p:sp>
      <p:sp>
        <p:nvSpPr>
          <p:cNvPr id="27" name="Rectangle 26"/>
          <p:cNvSpPr/>
          <p:nvPr/>
        </p:nvSpPr>
        <p:spPr>
          <a:xfrm>
            <a:off x="457200" y="3520440"/>
            <a:ext cx="3657600" cy="164592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520440"/>
            <a:ext cx="3657600" cy="292608"/>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566160"/>
            <a:ext cx="3657600" cy="228600"/>
          </a:xfrm>
          <a:prstGeom prst="rect">
            <a:avLst/>
          </a:prstGeom>
          <a:noFill/>
        </p:spPr>
        <p:txBody>
          <a:bodyPr wrap="square" lIns="0" rIns="0" tIns="0" bIns="0" anchor="t">
            <a:spAutoFit/>
          </a:bodyPr>
          <a:lstStyle/>
          <a:p>
            <a:pPr algn="l"/>
            <a:r>
              <a:rPr sz="1000" b="1" i="0">
                <a:solidFill>
                  <a:srgbClr val="DCFF1E"/>
                </a:solidFill>
                <a:latin typeface="Space Mono"/>
              </a:rPr>
              <a:t>SCENARIO 4</a:t>
            </a:r>
          </a:p>
        </p:txBody>
      </p:sp>
      <p:sp>
        <p:nvSpPr>
          <p:cNvPr id="30" name="TextBox 29"/>
          <p:cNvSpPr txBox="1"/>
          <p:nvPr/>
        </p:nvSpPr>
        <p:spPr>
          <a:xfrm>
            <a:off x="685800" y="3886200"/>
            <a:ext cx="3200400" cy="365760"/>
          </a:xfrm>
          <a:prstGeom prst="rect">
            <a:avLst/>
          </a:prstGeom>
          <a:noFill/>
        </p:spPr>
        <p:txBody>
          <a:bodyPr wrap="square" lIns="0" rIns="0" tIns="0" bIns="0" anchor="t">
            <a:spAutoFit/>
          </a:bodyPr>
          <a:lstStyle/>
          <a:p>
            <a:pPr algn="l"/>
            <a:r>
              <a:rPr sz="1500" b="1" i="0">
                <a:solidFill>
                  <a:srgbClr val="091A23"/>
                </a:solidFill>
                <a:latin typeface="Space Grotesk"/>
              </a:rPr>
              <a:t>Postgres vs Redis latency</a:t>
            </a:r>
          </a:p>
        </p:txBody>
      </p:sp>
      <p:sp>
        <p:nvSpPr>
          <p:cNvPr id="31" name="TextBox 30"/>
          <p:cNvSpPr txBox="1"/>
          <p:nvPr/>
        </p:nvSpPr>
        <p:spPr>
          <a:xfrm>
            <a:off x="685800" y="4251960"/>
            <a:ext cx="3200400" cy="822960"/>
          </a:xfrm>
          <a:prstGeom prst="rect">
            <a:avLst/>
          </a:prstGeom>
          <a:noFill/>
        </p:spPr>
        <p:txBody>
          <a:bodyPr wrap="square" lIns="0" rIns="0" tIns="0" bIns="0" anchor="t">
            <a:spAutoFit/>
          </a:bodyPr>
          <a:lstStyle/>
          <a:p>
            <a:pPr algn="l"/>
            <a:r>
              <a:rPr sz="1100" b="0" i="0">
                <a:solidFill>
                  <a:srgbClr val="163341"/>
                </a:solidFill>
                <a:latin typeface="Space Grotesk"/>
              </a:rPr>
              <a:t>Same portfolio summary query. Postgres in tens of ms, Redis in sub-ms. Multiply by peak QPS for Oracle savings.</a:t>
            </a:r>
          </a:p>
        </p:txBody>
      </p:sp>
      <p:sp>
        <p:nvSpPr>
          <p:cNvPr id="32" name="Rectangle 31"/>
          <p:cNvSpPr/>
          <p:nvPr/>
        </p:nvSpPr>
        <p:spPr>
          <a:xfrm>
            <a:off x="4251960" y="3520440"/>
            <a:ext cx="3657600" cy="164592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51960" y="3520440"/>
            <a:ext cx="3657600" cy="292608"/>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80560" y="3566160"/>
            <a:ext cx="3657600" cy="228600"/>
          </a:xfrm>
          <a:prstGeom prst="rect">
            <a:avLst/>
          </a:prstGeom>
          <a:noFill/>
        </p:spPr>
        <p:txBody>
          <a:bodyPr wrap="square" lIns="0" rIns="0" tIns="0" bIns="0" anchor="t">
            <a:spAutoFit/>
          </a:bodyPr>
          <a:lstStyle/>
          <a:p>
            <a:pPr algn="l"/>
            <a:r>
              <a:rPr sz="1000" b="1" i="0">
                <a:solidFill>
                  <a:srgbClr val="DCFF1E"/>
                </a:solidFill>
                <a:latin typeface="Space Mono"/>
              </a:rPr>
              <a:t>SCENARIO 5</a:t>
            </a:r>
          </a:p>
        </p:txBody>
      </p:sp>
      <p:sp>
        <p:nvSpPr>
          <p:cNvPr id="35" name="TextBox 34"/>
          <p:cNvSpPr txBox="1"/>
          <p:nvPr/>
        </p:nvSpPr>
        <p:spPr>
          <a:xfrm>
            <a:off x="4480560" y="3886200"/>
            <a:ext cx="3200400" cy="365760"/>
          </a:xfrm>
          <a:prstGeom prst="rect">
            <a:avLst/>
          </a:prstGeom>
          <a:noFill/>
        </p:spPr>
        <p:txBody>
          <a:bodyPr wrap="square" lIns="0" rIns="0" tIns="0" bIns="0" anchor="t">
            <a:spAutoFit/>
          </a:bodyPr>
          <a:lstStyle/>
          <a:p>
            <a:pPr algn="l"/>
            <a:r>
              <a:rPr sz="1500" b="1" i="0">
                <a:solidFill>
                  <a:srgbClr val="091A23"/>
                </a:solidFill>
                <a:latin typeface="Space Grotesk"/>
              </a:rPr>
              <a:t>Pipeline observability</a:t>
            </a:r>
          </a:p>
        </p:txBody>
      </p:sp>
      <p:sp>
        <p:nvSpPr>
          <p:cNvPr id="36" name="TextBox 35"/>
          <p:cNvSpPr txBox="1"/>
          <p:nvPr/>
        </p:nvSpPr>
        <p:spPr>
          <a:xfrm>
            <a:off x="4480560" y="4251960"/>
            <a:ext cx="3200400" cy="822960"/>
          </a:xfrm>
          <a:prstGeom prst="rect">
            <a:avLst/>
          </a:prstGeom>
          <a:noFill/>
        </p:spPr>
        <p:txBody>
          <a:bodyPr wrap="square" lIns="0" rIns="0" tIns="0" bIns="0" anchor="t">
            <a:spAutoFit/>
          </a:bodyPr>
          <a:lstStyle/>
          <a:p>
            <a:pPr algn="l"/>
            <a:r>
              <a:rPr sz="1100" b="0" i="0">
                <a:solidFill>
                  <a:srgbClr val="163341"/>
                </a:solidFill>
                <a:latin typeface="Space Grotesk"/>
              </a:rPr>
              <a:t>Open Redis Insight. Per-table CDC counts, DLQ, deployed YAML — what your ops team sees every day.</a:t>
            </a:r>
          </a:p>
        </p:txBody>
      </p:sp>
      <p:sp>
        <p:nvSpPr>
          <p:cNvPr id="37" name="Rectangle 36"/>
          <p:cNvSpPr/>
          <p:nvPr/>
        </p:nvSpPr>
        <p:spPr>
          <a:xfrm>
            <a:off x="8046720" y="3520440"/>
            <a:ext cx="3657600" cy="164592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46720" y="3520440"/>
            <a:ext cx="3657600" cy="292608"/>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75320" y="3566160"/>
            <a:ext cx="3657600" cy="228600"/>
          </a:xfrm>
          <a:prstGeom prst="rect">
            <a:avLst/>
          </a:prstGeom>
          <a:noFill/>
        </p:spPr>
        <p:txBody>
          <a:bodyPr wrap="square" lIns="0" rIns="0" tIns="0" bIns="0" anchor="t">
            <a:spAutoFit/>
          </a:bodyPr>
          <a:lstStyle/>
          <a:p>
            <a:pPr algn="l"/>
            <a:r>
              <a:rPr sz="1000" b="1" i="0">
                <a:solidFill>
                  <a:srgbClr val="DCFF1E"/>
                </a:solidFill>
                <a:latin typeface="Space Mono"/>
              </a:rPr>
              <a:t>SCENARIO 6</a:t>
            </a:r>
          </a:p>
        </p:txBody>
      </p:sp>
      <p:sp>
        <p:nvSpPr>
          <p:cNvPr id="40" name="TextBox 39"/>
          <p:cNvSpPr txBox="1"/>
          <p:nvPr/>
        </p:nvSpPr>
        <p:spPr>
          <a:xfrm>
            <a:off x="8275320" y="3886200"/>
            <a:ext cx="3200400" cy="365760"/>
          </a:xfrm>
          <a:prstGeom prst="rect">
            <a:avLst/>
          </a:prstGeom>
          <a:noFill/>
        </p:spPr>
        <p:txBody>
          <a:bodyPr wrap="square" lIns="0" rIns="0" tIns="0" bIns="0" anchor="t">
            <a:spAutoFit/>
          </a:bodyPr>
          <a:lstStyle/>
          <a:p>
            <a:pPr algn="l"/>
            <a:r>
              <a:rPr sz="1500" b="1" i="0">
                <a:solidFill>
                  <a:srgbClr val="091A23"/>
                </a:solidFill>
                <a:latin typeface="Space Grotesk"/>
              </a:rPr>
              <a:t>Schema change</a:t>
            </a:r>
          </a:p>
        </p:txBody>
      </p:sp>
      <p:sp>
        <p:nvSpPr>
          <p:cNvPr id="41" name="TextBox 40"/>
          <p:cNvSpPr txBox="1"/>
          <p:nvPr/>
        </p:nvSpPr>
        <p:spPr>
          <a:xfrm>
            <a:off x="8275320" y="4251960"/>
            <a:ext cx="3200400" cy="822960"/>
          </a:xfrm>
          <a:prstGeom prst="rect">
            <a:avLst/>
          </a:prstGeom>
          <a:noFill/>
        </p:spPr>
        <p:txBody>
          <a:bodyPr wrap="square" lIns="0" rIns="0" tIns="0" bIns="0" anchor="t">
            <a:spAutoFit/>
          </a:bodyPr>
          <a:lstStyle/>
          <a:p>
            <a:pPr algn="l"/>
            <a:r>
              <a:rPr sz="1100" b="0" i="0">
                <a:solidFill>
                  <a:srgbClr val="163341"/>
                </a:solidFill>
                <a:latin typeface="Space Grotesk"/>
              </a:rPr>
              <a:t>Add a column to holding in Postgres. RDI auto-detects it; next update lands in Redis. No pipeline restart.</a:t>
            </a:r>
          </a:p>
        </p:txBody>
      </p:sp>
      <p:sp>
        <p:nvSpPr>
          <p:cNvPr id="42" name="Rectangle 41"/>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TALK TRACK</a:t>
            </a:r>
          </a:p>
        </p:txBody>
      </p:sp>
      <p:sp>
        <p:nvSpPr>
          <p:cNvPr id="45" name="TextBox 44"/>
          <p:cNvSpPr txBox="1"/>
          <p:nvPr/>
        </p:nvSpPr>
        <p:spPr>
          <a:xfrm>
            <a:off x="777240" y="5623560"/>
            <a:ext cx="10972800" cy="594360"/>
          </a:xfrm>
          <a:prstGeom prst="rect">
            <a:avLst/>
          </a:prstGeom>
          <a:noFill/>
        </p:spPr>
        <p:txBody>
          <a:bodyPr wrap="square" lIns="0" rIns="0" tIns="0" bIns="0" anchor="t">
            <a:spAutoFit/>
          </a:bodyPr>
          <a:lstStyle/>
          <a:p>
            <a:pPr algn="l"/>
            <a:r>
              <a:rPr sz="1100" b="0" i="0">
                <a:solidFill>
                  <a:srgbClr val="163341"/>
                </a:solidFill>
                <a:latin typeface="Space Grotesk"/>
              </a:rPr>
              <a:t>Six short scenarios, each under five minutes. Please interrupt me at any point with the kind of objection you'd hear from your own architecture review board. We can pause and poke around the running system as we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11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ECONOMICS</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What this looks like for the CFO</a:t>
            </a:r>
          </a:p>
        </p:txBody>
      </p:sp>
      <p:sp>
        <p:nvSpPr>
          <p:cNvPr id="12" name="Rectangle 11"/>
          <p:cNvSpPr/>
          <p:nvPr/>
        </p:nvSpPr>
        <p:spPr>
          <a:xfrm>
            <a:off x="457200" y="1828800"/>
            <a:ext cx="5486400" cy="329184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828800"/>
            <a:ext cx="164592" cy="3291840"/>
          </a:xfrm>
          <a:prstGeom prst="rect">
            <a:avLst/>
          </a:prstGeom>
          <a:solidFill>
            <a:srgbClr val="FF5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011680"/>
            <a:ext cx="4937760" cy="365760"/>
          </a:xfrm>
          <a:prstGeom prst="rect">
            <a:avLst/>
          </a:prstGeom>
          <a:noFill/>
        </p:spPr>
        <p:txBody>
          <a:bodyPr wrap="square" lIns="0" rIns="0" tIns="0" bIns="0" anchor="t">
            <a:spAutoFit/>
          </a:bodyPr>
          <a:lstStyle/>
          <a:p>
            <a:pPr algn="l"/>
            <a:r>
              <a:rPr sz="1100" b="1" i="0">
                <a:solidFill>
                  <a:srgbClr val="FF5A6C"/>
                </a:solidFill>
                <a:latin typeface="Space Mono"/>
              </a:rPr>
              <a:t>TODAY  ·  CACHE-ASIDE ON ORACLE READS</a:t>
            </a:r>
          </a:p>
        </p:txBody>
      </p:sp>
      <p:sp>
        <p:nvSpPr>
          <p:cNvPr id="15" name="TextBox 14"/>
          <p:cNvSpPr txBox="1"/>
          <p:nvPr/>
        </p:nvSpPr>
        <p:spPr>
          <a:xfrm>
            <a:off x="822960" y="2468880"/>
            <a:ext cx="4937760" cy="2468880"/>
          </a:xfrm>
          <a:prstGeom prst="rect">
            <a:avLst/>
          </a:prstGeom>
          <a:noFill/>
        </p:spPr>
        <p:txBody>
          <a:bodyPr wrap="square" lIns="0" tIns="0">
            <a:spAutoFit/>
          </a:bodyPr>
          <a:lstStyle/>
          <a:p>
            <a:pPr algn="l">
              <a:spcAft>
                <a:spcPts val="600"/>
              </a:spcAft>
            </a:pPr>
            <a:r>
              <a:rPr sz="1000" b="1">
                <a:solidFill>
                  <a:srgbClr val="FF5A6C"/>
                </a:solidFill>
                <a:latin typeface="Space Mono"/>
              </a:rPr>
              <a:t>■  </a:t>
            </a:r>
            <a:r>
              <a:rPr sz="1200" b="0">
                <a:solidFill>
                  <a:srgbClr val="163341"/>
                </a:solidFill>
                <a:latin typeface="Space Grotesk"/>
              </a:rPr>
              <a:t>2 Oracle EE read replicas — licence + support per core</a:t>
            </a:r>
          </a:p>
          <a:p>
            <a:pPr algn="l">
              <a:spcAft>
                <a:spcPts val="600"/>
              </a:spcAft>
            </a:pPr>
            <a:r>
              <a:rPr sz="1000" b="1">
                <a:solidFill>
                  <a:srgbClr val="FF5A6C"/>
                </a:solidFill>
                <a:latin typeface="Space Mono"/>
              </a:rPr>
              <a:t>■  </a:t>
            </a:r>
            <a:r>
              <a:rPr sz="1200" b="0">
                <a:solidFill>
                  <a:srgbClr val="163341"/>
                </a:solidFill>
                <a:latin typeface="Space Grotesk"/>
              </a:rPr>
              <a:t>Senior engineer ~25% time on cache plumbing</a:t>
            </a:r>
          </a:p>
          <a:p>
            <a:pPr algn="l">
              <a:spcAft>
                <a:spcPts val="600"/>
              </a:spcAft>
            </a:pPr>
            <a:r>
              <a:rPr sz="1000" b="1">
                <a:solidFill>
                  <a:srgbClr val="FF5A6C"/>
                </a:solidFill>
                <a:latin typeface="Space Mono"/>
              </a:rPr>
              <a:t>■  </a:t>
            </a:r>
            <a:r>
              <a:rPr sz="1200" b="0">
                <a:solidFill>
                  <a:srgbClr val="163341"/>
                </a:solidFill>
                <a:latin typeface="Space Grotesk"/>
              </a:rPr>
              <a:t>P95 latency outages drive support tickets</a:t>
            </a:r>
          </a:p>
          <a:p>
            <a:pPr algn="l">
              <a:spcAft>
                <a:spcPts val="600"/>
              </a:spcAft>
            </a:pPr>
            <a:r>
              <a:rPr sz="1000" b="1">
                <a:solidFill>
                  <a:srgbClr val="FF5A6C"/>
                </a:solidFill>
                <a:latin typeface="Space Mono"/>
              </a:rPr>
              <a:t>■  </a:t>
            </a:r>
            <a:r>
              <a:rPr sz="1200" b="0">
                <a:solidFill>
                  <a:srgbClr val="163341"/>
                </a:solidFill>
                <a:latin typeface="Space Grotesk"/>
              </a:rPr>
              <a:t>Each new cached table = 2–3 sprint weeks</a:t>
            </a:r>
          </a:p>
        </p:txBody>
      </p:sp>
      <p:sp>
        <p:nvSpPr>
          <p:cNvPr id="16" name="Rectangle 15"/>
          <p:cNvSpPr/>
          <p:nvPr/>
        </p:nvSpPr>
        <p:spPr>
          <a:xfrm>
            <a:off x="6217920" y="1828800"/>
            <a:ext cx="5486400" cy="329184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828800"/>
            <a:ext cx="164592" cy="329184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011680"/>
            <a:ext cx="4937760" cy="365760"/>
          </a:xfrm>
          <a:prstGeom prst="rect">
            <a:avLst/>
          </a:prstGeom>
          <a:noFill/>
        </p:spPr>
        <p:txBody>
          <a:bodyPr wrap="square" lIns="0" rIns="0" tIns="0" bIns="0" anchor="t">
            <a:spAutoFit/>
          </a:bodyPr>
          <a:lstStyle/>
          <a:p>
            <a:pPr algn="l"/>
            <a:r>
              <a:rPr sz="1100" b="1" i="0">
                <a:solidFill>
                  <a:srgbClr val="2ECC71"/>
                </a:solidFill>
                <a:latin typeface="Space Mono"/>
              </a:rPr>
              <a:t>WITH RDI + REDIS ENTERPRISE</a:t>
            </a:r>
          </a:p>
        </p:txBody>
      </p:sp>
      <p:sp>
        <p:nvSpPr>
          <p:cNvPr id="19" name="TextBox 18"/>
          <p:cNvSpPr txBox="1"/>
          <p:nvPr/>
        </p:nvSpPr>
        <p:spPr>
          <a:xfrm>
            <a:off x="6583680" y="2468880"/>
            <a:ext cx="4937760" cy="2468880"/>
          </a:xfrm>
          <a:prstGeom prst="rect">
            <a:avLst/>
          </a:prstGeom>
          <a:noFill/>
        </p:spPr>
        <p:txBody>
          <a:bodyPr wrap="square" lIns="0" tIns="0">
            <a:spAutoFit/>
          </a:bodyPr>
          <a:lstStyle/>
          <a:p>
            <a:pPr algn="l">
              <a:spcAft>
                <a:spcPts val="600"/>
              </a:spcAft>
            </a:pPr>
            <a:r>
              <a:rPr sz="1000" b="1">
                <a:solidFill>
                  <a:srgbClr val="2ECC71"/>
                </a:solidFill>
                <a:latin typeface="Space Mono"/>
              </a:rPr>
              <a:t>■  </a:t>
            </a:r>
            <a:r>
              <a:rPr sz="1200" b="0">
                <a:solidFill>
                  <a:srgbClr val="163341"/>
                </a:solidFill>
                <a:latin typeface="Space Grotesk"/>
              </a:rPr>
              <a:t>Drop 1–2 Oracle read replicas — reads served from Redis</a:t>
            </a:r>
          </a:p>
          <a:p>
            <a:pPr algn="l">
              <a:spcAft>
                <a:spcPts val="600"/>
              </a:spcAft>
            </a:pPr>
            <a:r>
              <a:rPr sz="1000" b="1">
                <a:solidFill>
                  <a:srgbClr val="2ECC71"/>
                </a:solidFill>
                <a:latin typeface="Space Mono"/>
              </a:rPr>
              <a:t>■  </a:t>
            </a:r>
            <a:r>
              <a:rPr sz="1200" b="0">
                <a:solidFill>
                  <a:srgbClr val="163341"/>
                </a:solidFill>
                <a:latin typeface="Space Grotesk"/>
              </a:rPr>
              <a:t>Engineers stop writing cache plumbing</a:t>
            </a:r>
          </a:p>
          <a:p>
            <a:pPr algn="l">
              <a:spcAft>
                <a:spcPts val="600"/>
              </a:spcAft>
            </a:pPr>
            <a:r>
              <a:rPr sz="1000" b="1">
                <a:solidFill>
                  <a:srgbClr val="2ECC71"/>
                </a:solidFill>
                <a:latin typeface="Space Mono"/>
              </a:rPr>
              <a:t>■  </a:t>
            </a:r>
            <a:r>
              <a:rPr sz="1200" b="0">
                <a:solidFill>
                  <a:srgbClr val="163341"/>
                </a:solidFill>
                <a:latin typeface="Space Grotesk"/>
              </a:rPr>
              <a:t>P95 &lt; 5 ms for portfolio reads regardless of Oracle load</a:t>
            </a:r>
          </a:p>
          <a:p>
            <a:pPr algn="l">
              <a:spcAft>
                <a:spcPts val="600"/>
              </a:spcAft>
            </a:pPr>
            <a:r>
              <a:rPr sz="1000" b="1">
                <a:solidFill>
                  <a:srgbClr val="2ECC71"/>
                </a:solidFill>
                <a:latin typeface="Space Mono"/>
              </a:rPr>
              <a:t>■  </a:t>
            </a:r>
            <a:r>
              <a:rPr sz="1200" b="0">
                <a:solidFill>
                  <a:srgbClr val="163341"/>
                </a:solidFill>
                <a:latin typeface="Space Grotesk"/>
              </a:rPr>
              <a:t>New cached table = PR that adds a YAML file</a:t>
            </a:r>
          </a:p>
        </p:txBody>
      </p:sp>
      <p:sp>
        <p:nvSpPr>
          <p:cNvPr id="20" name="Rectangle 19"/>
          <p:cNvSpPr/>
          <p:nvPr/>
        </p:nvSpPr>
        <p:spPr>
          <a:xfrm>
            <a:off x="457200" y="5257800"/>
            <a:ext cx="11247120" cy="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303520"/>
            <a:ext cx="11247120" cy="45720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5303520"/>
            <a:ext cx="11247120" cy="457200"/>
          </a:xfrm>
          <a:prstGeom prst="rect">
            <a:avLst/>
          </a:prstGeom>
          <a:noFill/>
        </p:spPr>
        <p:txBody>
          <a:bodyPr wrap="square" lIns="0" rIns="0" tIns="0" bIns="0" anchor="ctr">
            <a:spAutoFit/>
          </a:bodyPr>
          <a:lstStyle/>
          <a:p>
            <a:pPr algn="ctr"/>
            <a:r>
              <a:rPr sz="1300" b="1" i="0">
                <a:solidFill>
                  <a:srgbClr val="DCFF1E"/>
                </a:solidFill>
                <a:latin typeface="Space Grotesk"/>
              </a:rPr>
              <a:t>Typical ROI  ·  3–5× cost of Redis + RDI recovered in Oracle licence reduction within 12 months</a:t>
            </a:r>
          </a:p>
        </p:txBody>
      </p:sp>
      <p:sp>
        <p:nvSpPr>
          <p:cNvPr id="23" name="Rectangle 22"/>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TALK TRACK</a:t>
            </a:r>
          </a:p>
        </p:txBody>
      </p:sp>
      <p:sp>
        <p:nvSpPr>
          <p:cNvPr id="26" name="TextBox 25"/>
          <p:cNvSpPr txBox="1"/>
          <p:nvPr/>
        </p:nvSpPr>
        <p:spPr>
          <a:xfrm>
            <a:off x="777240" y="5623560"/>
            <a:ext cx="10972800" cy="594360"/>
          </a:xfrm>
          <a:prstGeom prst="rect">
            <a:avLst/>
          </a:prstGeom>
          <a:noFill/>
        </p:spPr>
        <p:txBody>
          <a:bodyPr wrap="square" lIns="0" rIns="0" tIns="0" bIns="0" anchor="t">
            <a:spAutoFit/>
          </a:bodyPr>
          <a:lstStyle/>
          <a:p>
            <a:pPr algn="l"/>
            <a:r>
              <a:rPr sz="1100" b="0" i="0">
                <a:solidFill>
                  <a:srgbClr val="163341"/>
                </a:solidFill>
                <a:latin typeface="Space Grotesk"/>
              </a:rPr>
              <a:t>I deliberately put cost on a slide because I know your CFO will ask. The economics are clear: every Oracle read you move to Redis is an Oracle core you don't have to licence. We have customers in Indian financial services who decommissioned Oracle read replicas entirely after going live on RDI. We can do a TCO worksheet specific to your environment as follow-up.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12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SECURITY &amp; COMPLIANCE</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Answers we have for your CISO up-front</a:t>
            </a:r>
          </a:p>
        </p:txBody>
      </p:sp>
      <p:sp>
        <p:nvSpPr>
          <p:cNvPr id="12" name="Rectangle 11"/>
          <p:cNvSpPr/>
          <p:nvPr/>
        </p:nvSpPr>
        <p:spPr>
          <a:xfrm>
            <a:off x="457200" y="1828800"/>
            <a:ext cx="73152" cy="5029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28800"/>
            <a:ext cx="3017520" cy="320040"/>
          </a:xfrm>
          <a:prstGeom prst="rect">
            <a:avLst/>
          </a:prstGeom>
          <a:noFill/>
        </p:spPr>
        <p:txBody>
          <a:bodyPr wrap="square" lIns="0" rIns="0" tIns="0" bIns="0" anchor="t">
            <a:spAutoFit/>
          </a:bodyPr>
          <a:lstStyle/>
          <a:p>
            <a:pPr algn="l"/>
            <a:r>
              <a:rPr sz="1300" b="1" i="0">
                <a:solidFill>
                  <a:srgbClr val="091A23"/>
                </a:solidFill>
                <a:latin typeface="Space Grotesk"/>
              </a:rPr>
              <a:t>Data in transit</a:t>
            </a:r>
          </a:p>
        </p:txBody>
      </p:sp>
      <p:sp>
        <p:nvSpPr>
          <p:cNvPr id="14" name="TextBox 13"/>
          <p:cNvSpPr txBox="1"/>
          <p:nvPr/>
        </p:nvSpPr>
        <p:spPr>
          <a:xfrm>
            <a:off x="640080" y="2084832"/>
            <a:ext cx="10972800" cy="365760"/>
          </a:xfrm>
          <a:prstGeom prst="rect">
            <a:avLst/>
          </a:prstGeom>
          <a:noFill/>
        </p:spPr>
        <p:txBody>
          <a:bodyPr wrap="square" lIns="0" rIns="0" tIns="0" bIns="0" anchor="t">
            <a:spAutoFit/>
          </a:bodyPr>
          <a:lstStyle/>
          <a:p>
            <a:pPr algn="l"/>
            <a:r>
              <a:rPr sz="1200" b="0" i="0">
                <a:solidFill>
                  <a:srgbClr val="163341"/>
                </a:solidFill>
                <a:latin typeface="Space Grotesk"/>
              </a:rPr>
              <a:t>TLS / mTLS on every hop  ·  source ↔ RDI ↔ target.</a:t>
            </a:r>
          </a:p>
        </p:txBody>
      </p:sp>
      <p:sp>
        <p:nvSpPr>
          <p:cNvPr id="15" name="Rectangle 14"/>
          <p:cNvSpPr/>
          <p:nvPr/>
        </p:nvSpPr>
        <p:spPr>
          <a:xfrm>
            <a:off x="457200" y="2395728"/>
            <a:ext cx="73152" cy="5029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395728"/>
            <a:ext cx="3017520" cy="320040"/>
          </a:xfrm>
          <a:prstGeom prst="rect">
            <a:avLst/>
          </a:prstGeom>
          <a:noFill/>
        </p:spPr>
        <p:txBody>
          <a:bodyPr wrap="square" lIns="0" rIns="0" tIns="0" bIns="0" anchor="t">
            <a:spAutoFit/>
          </a:bodyPr>
          <a:lstStyle/>
          <a:p>
            <a:pPr algn="l"/>
            <a:r>
              <a:rPr sz="1300" b="1" i="0">
                <a:solidFill>
                  <a:srgbClr val="091A23"/>
                </a:solidFill>
                <a:latin typeface="Space Grotesk"/>
              </a:rPr>
              <a:t>Data at rest</a:t>
            </a:r>
          </a:p>
        </p:txBody>
      </p:sp>
      <p:sp>
        <p:nvSpPr>
          <p:cNvPr id="17" name="TextBox 16"/>
          <p:cNvSpPr txBox="1"/>
          <p:nvPr/>
        </p:nvSpPr>
        <p:spPr>
          <a:xfrm>
            <a:off x="640080" y="2651760"/>
            <a:ext cx="10972800" cy="365760"/>
          </a:xfrm>
          <a:prstGeom prst="rect">
            <a:avLst/>
          </a:prstGeom>
          <a:noFill/>
        </p:spPr>
        <p:txBody>
          <a:bodyPr wrap="square" lIns="0" rIns="0" tIns="0" bIns="0" anchor="t">
            <a:spAutoFit/>
          </a:bodyPr>
          <a:lstStyle/>
          <a:p>
            <a:pPr algn="l"/>
            <a:r>
              <a:rPr sz="1200" b="0" i="0">
                <a:solidFill>
                  <a:srgbClr val="163341"/>
                </a:solidFill>
                <a:latin typeface="Space Grotesk"/>
              </a:rPr>
              <a:t>RDI never persists data on its VMs. All state in Redis Enterprise, inherits cluster encryption-at-rest.</a:t>
            </a:r>
          </a:p>
        </p:txBody>
      </p:sp>
      <p:sp>
        <p:nvSpPr>
          <p:cNvPr id="18" name="Rectangle 17"/>
          <p:cNvSpPr/>
          <p:nvPr/>
        </p:nvSpPr>
        <p:spPr>
          <a:xfrm>
            <a:off x="457200" y="2962656"/>
            <a:ext cx="73152" cy="5029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962656"/>
            <a:ext cx="3017520" cy="320040"/>
          </a:xfrm>
          <a:prstGeom prst="rect">
            <a:avLst/>
          </a:prstGeom>
          <a:noFill/>
        </p:spPr>
        <p:txBody>
          <a:bodyPr wrap="square" lIns="0" rIns="0" tIns="0" bIns="0" anchor="t">
            <a:spAutoFit/>
          </a:bodyPr>
          <a:lstStyle/>
          <a:p>
            <a:pPr algn="l"/>
            <a:r>
              <a:rPr sz="1300" b="1" i="0">
                <a:solidFill>
                  <a:srgbClr val="091A23"/>
                </a:solidFill>
                <a:latin typeface="Space Grotesk"/>
              </a:rPr>
              <a:t>Credentials</a:t>
            </a:r>
          </a:p>
        </p:txBody>
      </p:sp>
      <p:sp>
        <p:nvSpPr>
          <p:cNvPr id="20" name="TextBox 19"/>
          <p:cNvSpPr txBox="1"/>
          <p:nvPr/>
        </p:nvSpPr>
        <p:spPr>
          <a:xfrm>
            <a:off x="640080" y="3218688"/>
            <a:ext cx="10972800" cy="365760"/>
          </a:xfrm>
          <a:prstGeom prst="rect">
            <a:avLst/>
          </a:prstGeom>
          <a:noFill/>
        </p:spPr>
        <p:txBody>
          <a:bodyPr wrap="square" lIns="0" rIns="0" tIns="0" bIns="0" anchor="t">
            <a:spAutoFit/>
          </a:bodyPr>
          <a:lstStyle/>
          <a:p>
            <a:pPr algn="l"/>
            <a:r>
              <a:rPr sz="1200" b="0" i="0">
                <a:solidFill>
                  <a:srgbClr val="163341"/>
                </a:solidFill>
                <a:latin typeface="Space Grotesk"/>
              </a:rPr>
              <a:t>RDI secrets (file system or K8s secrets) referenced by name in config.yaml — never plaintext.</a:t>
            </a:r>
          </a:p>
        </p:txBody>
      </p:sp>
      <p:sp>
        <p:nvSpPr>
          <p:cNvPr id="21" name="Rectangle 20"/>
          <p:cNvSpPr/>
          <p:nvPr/>
        </p:nvSpPr>
        <p:spPr>
          <a:xfrm>
            <a:off x="457200" y="3529584"/>
            <a:ext cx="73152" cy="5029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529584"/>
            <a:ext cx="3017520" cy="320040"/>
          </a:xfrm>
          <a:prstGeom prst="rect">
            <a:avLst/>
          </a:prstGeom>
          <a:noFill/>
        </p:spPr>
        <p:txBody>
          <a:bodyPr wrap="square" lIns="0" rIns="0" tIns="0" bIns="0" anchor="t">
            <a:spAutoFit/>
          </a:bodyPr>
          <a:lstStyle/>
          <a:p>
            <a:pPr algn="l"/>
            <a:r>
              <a:rPr sz="1300" b="1" i="0">
                <a:solidFill>
                  <a:srgbClr val="091A23"/>
                </a:solidFill>
                <a:latin typeface="Space Grotesk"/>
              </a:rPr>
              <a:t>RBAC</a:t>
            </a:r>
          </a:p>
        </p:txBody>
      </p:sp>
      <p:sp>
        <p:nvSpPr>
          <p:cNvPr id="23" name="TextBox 22"/>
          <p:cNvSpPr txBox="1"/>
          <p:nvPr/>
        </p:nvSpPr>
        <p:spPr>
          <a:xfrm>
            <a:off x="640080" y="3785616"/>
            <a:ext cx="10972800" cy="365760"/>
          </a:xfrm>
          <a:prstGeom prst="rect">
            <a:avLst/>
          </a:prstGeom>
          <a:noFill/>
        </p:spPr>
        <p:txBody>
          <a:bodyPr wrap="square" lIns="0" rIns="0" tIns="0" bIns="0" anchor="t">
            <a:spAutoFit/>
          </a:bodyPr>
          <a:lstStyle/>
          <a:p>
            <a:pPr algn="l"/>
            <a:r>
              <a:rPr sz="1200" b="0" i="0">
                <a:solidFill>
                  <a:srgbClr val="163341"/>
                </a:solidFill>
                <a:latin typeface="Space Grotesk"/>
              </a:rPr>
              <a:t>Source DB user = replication-only.  Target DB ACL = write-only for RDI, read-only for applications.</a:t>
            </a:r>
          </a:p>
        </p:txBody>
      </p:sp>
      <p:sp>
        <p:nvSpPr>
          <p:cNvPr id="24" name="Rectangle 23"/>
          <p:cNvSpPr/>
          <p:nvPr/>
        </p:nvSpPr>
        <p:spPr>
          <a:xfrm>
            <a:off x="457200" y="4096512"/>
            <a:ext cx="73152" cy="5029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096512"/>
            <a:ext cx="3017520" cy="320040"/>
          </a:xfrm>
          <a:prstGeom prst="rect">
            <a:avLst/>
          </a:prstGeom>
          <a:noFill/>
        </p:spPr>
        <p:txBody>
          <a:bodyPr wrap="square" lIns="0" rIns="0" tIns="0" bIns="0" anchor="t">
            <a:spAutoFit/>
          </a:bodyPr>
          <a:lstStyle/>
          <a:p>
            <a:pPr algn="l"/>
            <a:r>
              <a:rPr sz="1300" b="1" i="0">
                <a:solidFill>
                  <a:srgbClr val="091A23"/>
                </a:solidFill>
                <a:latin typeface="Space Grotesk"/>
              </a:rPr>
              <a:t>Audit</a:t>
            </a:r>
          </a:p>
        </p:txBody>
      </p:sp>
      <p:sp>
        <p:nvSpPr>
          <p:cNvPr id="26" name="TextBox 25"/>
          <p:cNvSpPr txBox="1"/>
          <p:nvPr/>
        </p:nvSpPr>
        <p:spPr>
          <a:xfrm>
            <a:off x="640080" y="4352544"/>
            <a:ext cx="10972800" cy="365760"/>
          </a:xfrm>
          <a:prstGeom prst="rect">
            <a:avLst/>
          </a:prstGeom>
          <a:noFill/>
        </p:spPr>
        <p:txBody>
          <a:bodyPr wrap="square" lIns="0" rIns="0" tIns="0" bIns="0" anchor="t">
            <a:spAutoFit/>
          </a:bodyPr>
          <a:lstStyle/>
          <a:p>
            <a:pPr algn="l"/>
            <a:r>
              <a:rPr sz="1200" b="0" i="0">
                <a:solidFill>
                  <a:srgbClr val="163341"/>
                </a:solidFill>
                <a:latin typeface="Space Grotesk"/>
              </a:rPr>
              <a:t>Structured JSON logs per pipeline — Splunk / ELK / Datadog ready.</a:t>
            </a:r>
          </a:p>
        </p:txBody>
      </p:sp>
      <p:sp>
        <p:nvSpPr>
          <p:cNvPr id="27" name="Rectangle 26"/>
          <p:cNvSpPr/>
          <p:nvPr/>
        </p:nvSpPr>
        <p:spPr>
          <a:xfrm>
            <a:off x="457200" y="4663440"/>
            <a:ext cx="73152" cy="5029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663440"/>
            <a:ext cx="3017520" cy="320040"/>
          </a:xfrm>
          <a:prstGeom prst="rect">
            <a:avLst/>
          </a:prstGeom>
          <a:noFill/>
        </p:spPr>
        <p:txBody>
          <a:bodyPr wrap="square" lIns="0" rIns="0" tIns="0" bIns="0" anchor="t">
            <a:spAutoFit/>
          </a:bodyPr>
          <a:lstStyle/>
          <a:p>
            <a:pPr algn="l"/>
            <a:r>
              <a:rPr sz="1300" b="1" i="0">
                <a:solidFill>
                  <a:srgbClr val="091A23"/>
                </a:solidFill>
                <a:latin typeface="Space Grotesk"/>
              </a:rPr>
              <a:t>Air-gapped option</a:t>
            </a:r>
          </a:p>
        </p:txBody>
      </p:sp>
      <p:sp>
        <p:nvSpPr>
          <p:cNvPr id="29" name="TextBox 28"/>
          <p:cNvSpPr txBox="1"/>
          <p:nvPr/>
        </p:nvSpPr>
        <p:spPr>
          <a:xfrm>
            <a:off x="640080" y="4919472"/>
            <a:ext cx="10972800" cy="365760"/>
          </a:xfrm>
          <a:prstGeom prst="rect">
            <a:avLst/>
          </a:prstGeom>
          <a:noFill/>
        </p:spPr>
        <p:txBody>
          <a:bodyPr wrap="square" lIns="0" rIns="0" tIns="0" bIns="0" anchor="t">
            <a:spAutoFit/>
          </a:bodyPr>
          <a:lstStyle/>
          <a:p>
            <a:pPr algn="l"/>
            <a:r>
              <a:rPr sz="1200" b="0" i="0">
                <a:solidFill>
                  <a:srgbClr val="163341"/>
                </a:solidFill>
                <a:latin typeface="Space Grotesk"/>
              </a:rPr>
              <a:t>Runs entirely on your VMs / K8s. Offline installable. No outbound calls.</a:t>
            </a:r>
          </a:p>
        </p:txBody>
      </p:sp>
      <p:sp>
        <p:nvSpPr>
          <p:cNvPr id="30" name="Rectangle 29"/>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TALK TRACK</a:t>
            </a:r>
          </a:p>
        </p:txBody>
      </p:sp>
      <p:sp>
        <p:nvSpPr>
          <p:cNvPr id="33" name="TextBox 32"/>
          <p:cNvSpPr txBox="1"/>
          <p:nvPr/>
        </p:nvSpPr>
        <p:spPr>
          <a:xfrm>
            <a:off x="777240" y="5623560"/>
            <a:ext cx="10972800" cy="594360"/>
          </a:xfrm>
          <a:prstGeom prst="rect">
            <a:avLst/>
          </a:prstGeom>
          <a:noFill/>
        </p:spPr>
        <p:txBody>
          <a:bodyPr wrap="square" lIns="0" rIns="0" tIns="0" bIns="0" anchor="t">
            <a:spAutoFit/>
          </a:bodyPr>
          <a:lstStyle/>
          <a:p>
            <a:pPr algn="l"/>
            <a:r>
              <a:rPr sz="1100" b="0" i="0">
                <a:solidFill>
                  <a:srgbClr val="163341"/>
                </a:solidFill>
                <a:latin typeface="Space Grotesk"/>
              </a:rPr>
              <a:t>We anticipate these questions because every financial services prospect asks them. Short version: RDI fits inside your existing perimeter, encrypts everything, and persists nothing of yours outside Redis Enterprise. SOC 2 reports and full architecture documentation available after the meeting.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13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TextBox 9"/>
          <p:cNvSpPr txBox="1"/>
          <p:nvPr/>
        </p:nvSpPr>
        <p:spPr>
          <a:xfrm>
            <a:off x="457200" y="640080"/>
            <a:ext cx="11247120" cy="274320"/>
          </a:xfrm>
          <a:prstGeom prst="rect">
            <a:avLst/>
          </a:prstGeom>
          <a:noFill/>
        </p:spPr>
        <p:txBody>
          <a:bodyPr wrap="square" lIns="0" rIns="0" tIns="0" bIns="0" anchor="t">
            <a:spAutoFit/>
          </a:bodyPr>
          <a:lstStyle/>
          <a:p>
            <a:pPr algn="l"/>
            <a:r>
              <a:rPr sz="1000" b="1" i="0">
                <a:solidFill>
                  <a:srgbClr val="FF4438"/>
                </a:solidFill>
                <a:latin typeface="Space Mono"/>
              </a:rPr>
              <a:t>PROPOSAL</a:t>
            </a:r>
          </a:p>
        </p:txBody>
      </p:sp>
      <p:sp>
        <p:nvSpPr>
          <p:cNvPr id="11" name="TextBox 10"/>
          <p:cNvSpPr txBox="1"/>
          <p:nvPr/>
        </p:nvSpPr>
        <p:spPr>
          <a:xfrm>
            <a:off x="457200" y="868680"/>
            <a:ext cx="11247120" cy="822960"/>
          </a:xfrm>
          <a:prstGeom prst="rect">
            <a:avLst/>
          </a:prstGeom>
          <a:noFill/>
        </p:spPr>
        <p:txBody>
          <a:bodyPr wrap="square" lIns="0" rIns="0" tIns="0" bIns="0" anchor="t">
            <a:spAutoFit/>
          </a:bodyPr>
          <a:lstStyle/>
          <a:p>
            <a:pPr algn="l"/>
            <a:r>
              <a:rPr sz="3200" b="1" i="0">
                <a:solidFill>
                  <a:srgbClr val="091A23"/>
                </a:solidFill>
                <a:latin typeface="Space Grotesk"/>
              </a:rPr>
              <a:t>Next steps  ·  six weeks to a production-ready PoC</a:t>
            </a:r>
          </a:p>
        </p:txBody>
      </p:sp>
      <p:sp>
        <p:nvSpPr>
          <p:cNvPr id="12" name="Rectangle 11"/>
          <p:cNvSpPr/>
          <p:nvPr/>
        </p:nvSpPr>
        <p:spPr>
          <a:xfrm>
            <a:off x="457200" y="1828800"/>
            <a:ext cx="2194560" cy="6400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28800"/>
            <a:ext cx="2194560" cy="640080"/>
          </a:xfrm>
          <a:prstGeom prst="rect">
            <a:avLst/>
          </a:prstGeom>
          <a:noFill/>
        </p:spPr>
        <p:txBody>
          <a:bodyPr wrap="square" lIns="0" rIns="0" tIns="0" bIns="0" anchor="ctr">
            <a:spAutoFit/>
          </a:bodyPr>
          <a:lstStyle/>
          <a:p>
            <a:pPr algn="ctr"/>
            <a:r>
              <a:rPr sz="1500" b="1" i="0">
                <a:solidFill>
                  <a:srgbClr val="DCFF1E"/>
                </a:solidFill>
                <a:latin typeface="Space Mono"/>
              </a:rPr>
              <a:t>Today</a:t>
            </a:r>
          </a:p>
        </p:txBody>
      </p:sp>
      <p:sp>
        <p:nvSpPr>
          <p:cNvPr id="14" name="Rectangle 13"/>
          <p:cNvSpPr/>
          <p:nvPr/>
        </p:nvSpPr>
        <p:spPr>
          <a:xfrm>
            <a:off x="2651760" y="1828800"/>
            <a:ext cx="9079992" cy="64008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1828800"/>
            <a:ext cx="8823960" cy="640080"/>
          </a:xfrm>
          <a:prstGeom prst="rect">
            <a:avLst/>
          </a:prstGeom>
          <a:noFill/>
        </p:spPr>
        <p:txBody>
          <a:bodyPr wrap="square" lIns="0" rIns="0" tIns="0" bIns="0" anchor="ctr">
            <a:spAutoFit/>
          </a:bodyPr>
          <a:lstStyle/>
          <a:p>
            <a:pPr algn="l"/>
            <a:r>
              <a:rPr sz="1300" b="0" i="0">
                <a:solidFill>
                  <a:srgbClr val="163341"/>
                </a:solidFill>
                <a:latin typeface="Space Grotesk"/>
              </a:rPr>
              <a:t>Validate the demo. Identify 2–3 portfolio tables for PoC.</a:t>
            </a:r>
          </a:p>
        </p:txBody>
      </p:sp>
      <p:sp>
        <p:nvSpPr>
          <p:cNvPr id="16" name="Rectangle 15"/>
          <p:cNvSpPr/>
          <p:nvPr/>
        </p:nvSpPr>
        <p:spPr>
          <a:xfrm>
            <a:off x="457200" y="2578608"/>
            <a:ext cx="2194560" cy="6400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578608"/>
            <a:ext cx="2194560" cy="640080"/>
          </a:xfrm>
          <a:prstGeom prst="rect">
            <a:avLst/>
          </a:prstGeom>
          <a:noFill/>
        </p:spPr>
        <p:txBody>
          <a:bodyPr wrap="square" lIns="0" rIns="0" tIns="0" bIns="0" anchor="ctr">
            <a:spAutoFit/>
          </a:bodyPr>
          <a:lstStyle/>
          <a:p>
            <a:pPr algn="ctr"/>
            <a:r>
              <a:rPr sz="1500" b="1" i="0">
                <a:solidFill>
                  <a:srgbClr val="DCFF1E"/>
                </a:solidFill>
                <a:latin typeface="Space Mono"/>
              </a:rPr>
              <a:t>Week 1</a:t>
            </a:r>
          </a:p>
        </p:txBody>
      </p:sp>
      <p:sp>
        <p:nvSpPr>
          <p:cNvPr id="18" name="Rectangle 17"/>
          <p:cNvSpPr/>
          <p:nvPr/>
        </p:nvSpPr>
        <p:spPr>
          <a:xfrm>
            <a:off x="2651760" y="2578608"/>
            <a:ext cx="9079992" cy="64008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0360" y="2578608"/>
            <a:ext cx="8823960" cy="640080"/>
          </a:xfrm>
          <a:prstGeom prst="rect">
            <a:avLst/>
          </a:prstGeom>
          <a:noFill/>
        </p:spPr>
        <p:txBody>
          <a:bodyPr wrap="square" lIns="0" rIns="0" tIns="0" bIns="0" anchor="ctr">
            <a:spAutoFit/>
          </a:bodyPr>
          <a:lstStyle/>
          <a:p>
            <a:pPr algn="l"/>
            <a:r>
              <a:rPr sz="1300" b="0" i="0">
                <a:solidFill>
                  <a:srgbClr val="163341"/>
                </a:solidFill>
                <a:latin typeface="Space Grotesk"/>
              </a:rPr>
              <a:t>2-hour design session — DBAs walk through Oracle LogMiner / GoldenGate prerequisites.</a:t>
            </a:r>
          </a:p>
        </p:txBody>
      </p:sp>
      <p:sp>
        <p:nvSpPr>
          <p:cNvPr id="20" name="Rectangle 19"/>
          <p:cNvSpPr/>
          <p:nvPr/>
        </p:nvSpPr>
        <p:spPr>
          <a:xfrm>
            <a:off x="457200" y="3328416"/>
            <a:ext cx="2194560" cy="6400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328416"/>
            <a:ext cx="2194560" cy="640080"/>
          </a:xfrm>
          <a:prstGeom prst="rect">
            <a:avLst/>
          </a:prstGeom>
          <a:noFill/>
        </p:spPr>
        <p:txBody>
          <a:bodyPr wrap="square" lIns="0" rIns="0" tIns="0" bIns="0" anchor="ctr">
            <a:spAutoFit/>
          </a:bodyPr>
          <a:lstStyle/>
          <a:p>
            <a:pPr algn="ctr"/>
            <a:r>
              <a:rPr sz="1500" b="1" i="0">
                <a:solidFill>
                  <a:srgbClr val="DCFF1E"/>
                </a:solidFill>
                <a:latin typeface="Space Mono"/>
              </a:rPr>
              <a:t>Week 2</a:t>
            </a:r>
          </a:p>
        </p:txBody>
      </p:sp>
      <p:sp>
        <p:nvSpPr>
          <p:cNvPr id="22" name="Rectangle 21"/>
          <p:cNvSpPr/>
          <p:nvPr/>
        </p:nvSpPr>
        <p:spPr>
          <a:xfrm>
            <a:off x="2651760" y="3328416"/>
            <a:ext cx="9079992" cy="64008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80360" y="3328416"/>
            <a:ext cx="8823960" cy="640080"/>
          </a:xfrm>
          <a:prstGeom prst="rect">
            <a:avLst/>
          </a:prstGeom>
          <a:noFill/>
        </p:spPr>
        <p:txBody>
          <a:bodyPr wrap="square" lIns="0" rIns="0" tIns="0" bIns="0" anchor="ctr">
            <a:spAutoFit/>
          </a:bodyPr>
          <a:lstStyle/>
          <a:p>
            <a:pPr algn="l"/>
            <a:r>
              <a:rPr sz="1300" b="0" i="0">
                <a:solidFill>
                  <a:srgbClr val="163341"/>
                </a:solidFill>
                <a:latin typeface="Space Grotesk"/>
              </a:rPr>
              <a:t>Stand up RDI in your dev environment against a read-only Oracle clone (we install with your team).</a:t>
            </a:r>
          </a:p>
        </p:txBody>
      </p:sp>
      <p:sp>
        <p:nvSpPr>
          <p:cNvPr id="24" name="Rectangle 23"/>
          <p:cNvSpPr/>
          <p:nvPr/>
        </p:nvSpPr>
        <p:spPr>
          <a:xfrm>
            <a:off x="457200" y="4078224"/>
            <a:ext cx="2194560" cy="6400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078224"/>
            <a:ext cx="2194560" cy="640080"/>
          </a:xfrm>
          <a:prstGeom prst="rect">
            <a:avLst/>
          </a:prstGeom>
          <a:noFill/>
        </p:spPr>
        <p:txBody>
          <a:bodyPr wrap="square" lIns="0" rIns="0" tIns="0" bIns="0" anchor="ctr">
            <a:spAutoFit/>
          </a:bodyPr>
          <a:lstStyle/>
          <a:p>
            <a:pPr algn="ctr"/>
            <a:r>
              <a:rPr sz="1500" b="1" i="0">
                <a:solidFill>
                  <a:srgbClr val="DCFF1E"/>
                </a:solidFill>
                <a:latin typeface="Space Mono"/>
              </a:rPr>
              <a:t>Week 3–4</a:t>
            </a:r>
          </a:p>
        </p:txBody>
      </p:sp>
      <p:sp>
        <p:nvSpPr>
          <p:cNvPr id="26" name="Rectangle 25"/>
          <p:cNvSpPr/>
          <p:nvPr/>
        </p:nvSpPr>
        <p:spPr>
          <a:xfrm>
            <a:off x="2651760" y="4078224"/>
            <a:ext cx="9079992" cy="64008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80360" y="4078224"/>
            <a:ext cx="8823960" cy="640080"/>
          </a:xfrm>
          <a:prstGeom prst="rect">
            <a:avLst/>
          </a:prstGeom>
          <a:noFill/>
        </p:spPr>
        <p:txBody>
          <a:bodyPr wrap="square" lIns="0" rIns="0" tIns="0" bIns="0" anchor="ctr">
            <a:spAutoFit/>
          </a:bodyPr>
          <a:lstStyle/>
          <a:p>
            <a:pPr algn="l"/>
            <a:r>
              <a:rPr sz="1300" b="0" i="0">
                <a:solidFill>
                  <a:srgbClr val="163341"/>
                </a:solidFill>
                <a:latin typeface="Space Grotesk"/>
              </a:rPr>
              <a:t>Cut over Portfolio screen reads to Redis in dev/UAT. Measure P95 + Oracle CPU reduction.</a:t>
            </a:r>
          </a:p>
        </p:txBody>
      </p:sp>
      <p:sp>
        <p:nvSpPr>
          <p:cNvPr id="28" name="Rectangle 27"/>
          <p:cNvSpPr/>
          <p:nvPr/>
        </p:nvSpPr>
        <p:spPr>
          <a:xfrm>
            <a:off x="457200" y="4828032"/>
            <a:ext cx="2194560" cy="6400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828032"/>
            <a:ext cx="2194560" cy="640080"/>
          </a:xfrm>
          <a:prstGeom prst="rect">
            <a:avLst/>
          </a:prstGeom>
          <a:noFill/>
        </p:spPr>
        <p:txBody>
          <a:bodyPr wrap="square" lIns="0" rIns="0" tIns="0" bIns="0" anchor="ctr">
            <a:spAutoFit/>
          </a:bodyPr>
          <a:lstStyle/>
          <a:p>
            <a:pPr algn="ctr"/>
            <a:r>
              <a:rPr sz="1500" b="1" i="0">
                <a:solidFill>
                  <a:srgbClr val="DCFF1E"/>
                </a:solidFill>
                <a:latin typeface="Space Mono"/>
              </a:rPr>
              <a:t>Week 6</a:t>
            </a:r>
          </a:p>
        </p:txBody>
      </p:sp>
      <p:sp>
        <p:nvSpPr>
          <p:cNvPr id="30" name="Rectangle 29"/>
          <p:cNvSpPr/>
          <p:nvPr/>
        </p:nvSpPr>
        <p:spPr>
          <a:xfrm>
            <a:off x="2651760" y="4828032"/>
            <a:ext cx="9079992" cy="64008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80360" y="4828032"/>
            <a:ext cx="8823960" cy="640080"/>
          </a:xfrm>
          <a:prstGeom prst="rect">
            <a:avLst/>
          </a:prstGeom>
          <a:noFill/>
        </p:spPr>
        <p:txBody>
          <a:bodyPr wrap="square" lIns="0" rIns="0" tIns="0" bIns="0" anchor="ctr">
            <a:spAutoFit/>
          </a:bodyPr>
          <a:lstStyle/>
          <a:p>
            <a:pPr algn="l"/>
            <a:r>
              <a:rPr sz="1300" b="0" i="0">
                <a:solidFill>
                  <a:srgbClr val="163341"/>
                </a:solidFill>
                <a:latin typeface="Space Grotesk"/>
              </a:rPr>
              <a:t>Production go-live decision. RDI licence + Redis Enterprise sizing finalised.</a:t>
            </a:r>
          </a:p>
        </p:txBody>
      </p:sp>
      <p:sp>
        <p:nvSpPr>
          <p:cNvPr id="32" name="Rectangle 31"/>
          <p:cNvSpPr/>
          <p:nvPr/>
        </p:nvSpPr>
        <p:spPr>
          <a:xfrm>
            <a:off x="457200" y="5669280"/>
            <a:ext cx="11247120" cy="45720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5669280"/>
            <a:ext cx="11247120" cy="457200"/>
          </a:xfrm>
          <a:prstGeom prst="rect">
            <a:avLst/>
          </a:prstGeom>
          <a:noFill/>
        </p:spPr>
        <p:txBody>
          <a:bodyPr wrap="square" lIns="0" rIns="0" tIns="0" bIns="0" anchor="ctr">
            <a:spAutoFit/>
          </a:bodyPr>
          <a:lstStyle/>
          <a:p>
            <a:pPr algn="ctr"/>
            <a:r>
              <a:rPr sz="1300" b="1" i="0">
                <a:solidFill>
                  <a:srgbClr val="FFFFFF"/>
                </a:solidFill>
                <a:latin typeface="Space Grotesk"/>
              </a:rPr>
              <a:t>Redis provides a Solution Architect at no cost for the PoC. You keep every artefact produced.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256032" cy="256032"/>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292608"/>
            <a:ext cx="2743200" cy="457200"/>
          </a:xfrm>
          <a:prstGeom prst="rect">
            <a:avLst/>
          </a:prstGeom>
          <a:noFill/>
        </p:spPr>
        <p:txBody>
          <a:bodyPr wrap="square" lIns="0" rIns="0" tIns="0" bIns="0" anchor="t">
            <a:spAutoFit/>
          </a:bodyPr>
          <a:lstStyle/>
          <a:p>
            <a:pPr algn="l"/>
            <a:r>
              <a:rPr sz="2400" b="1" i="0">
                <a:solidFill>
                  <a:srgbClr val="FFFFFF"/>
                </a:solidFill>
                <a:latin typeface="Space Grotesk"/>
              </a:rPr>
              <a:t>redis</a:t>
            </a:r>
          </a:p>
        </p:txBody>
      </p:sp>
      <p:sp>
        <p:nvSpPr>
          <p:cNvPr id="5" name="Rounded Rectangle 4"/>
          <p:cNvSpPr/>
          <p:nvPr/>
        </p:nvSpPr>
        <p:spPr>
          <a:xfrm>
            <a:off x="548640" y="2377440"/>
            <a:ext cx="2011680" cy="457200"/>
          </a:xfrm>
          <a:prstGeom prst="roundRect">
            <a:avLst>
              <a:gd name="adj" fmla="val 50000"/>
            </a:avLst>
          </a:prstGeom>
          <a:solidFill>
            <a:srgbClr val="DCF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377440"/>
            <a:ext cx="2011680" cy="457200"/>
          </a:xfrm>
          <a:prstGeom prst="rect">
            <a:avLst/>
          </a:prstGeom>
          <a:noFill/>
        </p:spPr>
        <p:txBody>
          <a:bodyPr wrap="square" lIns="0" rIns="0" tIns="0" bIns="0" anchor="ctr">
            <a:spAutoFit/>
          </a:bodyPr>
          <a:lstStyle/>
          <a:p>
            <a:pPr algn="ctr"/>
            <a:r>
              <a:rPr sz="1200" b="1" i="0">
                <a:solidFill>
                  <a:srgbClr val="091A23"/>
                </a:solidFill>
                <a:latin typeface="Space Mono"/>
              </a:rPr>
              <a:t>DEMO  ·  STARTING NOW</a:t>
            </a:r>
          </a:p>
        </p:txBody>
      </p:sp>
      <p:sp>
        <p:nvSpPr>
          <p:cNvPr id="7" name="TextBox 6"/>
          <p:cNvSpPr txBox="1"/>
          <p:nvPr/>
        </p:nvSpPr>
        <p:spPr>
          <a:xfrm>
            <a:off x="548640" y="2926080"/>
            <a:ext cx="10972800" cy="1371600"/>
          </a:xfrm>
          <a:prstGeom prst="rect">
            <a:avLst/>
          </a:prstGeom>
          <a:noFill/>
        </p:spPr>
        <p:txBody>
          <a:bodyPr wrap="square" lIns="0" rIns="0" tIns="0" bIns="0" anchor="t">
            <a:spAutoFit/>
          </a:bodyPr>
          <a:lstStyle/>
          <a:p>
            <a:pPr algn="l"/>
            <a:r>
              <a:rPr sz="6800" b="1" i="0">
                <a:solidFill>
                  <a:srgbClr val="FFFFFF"/>
                </a:solidFill>
                <a:latin typeface="Space Grotesk"/>
              </a:rPr>
              <a:t>Let's run the demo.</a:t>
            </a:r>
          </a:p>
        </p:txBody>
      </p:sp>
      <p:sp>
        <p:nvSpPr>
          <p:cNvPr id="8" name="Rectangle 7"/>
          <p:cNvSpPr/>
          <p:nvPr/>
        </p:nvSpPr>
        <p:spPr>
          <a:xfrm>
            <a:off x="548640" y="4160520"/>
            <a:ext cx="1463040" cy="6400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297680"/>
            <a:ext cx="10972800" cy="457200"/>
          </a:xfrm>
          <a:prstGeom prst="rect">
            <a:avLst/>
          </a:prstGeom>
          <a:noFill/>
        </p:spPr>
        <p:txBody>
          <a:bodyPr wrap="square" lIns="0" rIns="0" tIns="0" bIns="0" anchor="t">
            <a:spAutoFit/>
          </a:bodyPr>
          <a:lstStyle/>
          <a:p>
            <a:pPr algn="l"/>
            <a:r>
              <a:rPr sz="2200" b="0" i="0">
                <a:solidFill>
                  <a:srgbClr val="B9C2C6"/>
                </a:solidFill>
                <a:latin typeface="Space Grotesk"/>
              </a:rPr>
              <a:t>…then your questions.</a:t>
            </a:r>
          </a:p>
        </p:txBody>
      </p:sp>
      <p:sp>
        <p:nvSpPr>
          <p:cNvPr id="10" name="TextBox 9"/>
          <p:cNvSpPr txBox="1"/>
          <p:nvPr/>
        </p:nvSpPr>
        <p:spPr>
          <a:xfrm>
            <a:off x="548640" y="5120640"/>
            <a:ext cx="10972800" cy="457200"/>
          </a:xfrm>
          <a:prstGeom prst="rect">
            <a:avLst/>
          </a:prstGeom>
          <a:noFill/>
        </p:spPr>
        <p:txBody>
          <a:bodyPr wrap="square" lIns="0" rIns="0" tIns="0" bIns="0" anchor="t">
            <a:spAutoFit/>
          </a:bodyPr>
          <a:lstStyle/>
          <a:p>
            <a:pPr algn="l"/>
            <a:r>
              <a:rPr sz="1400" b="0" i="0">
                <a:solidFill>
                  <a:srgbClr val="DCFF1E"/>
                </a:solidFill>
                <a:latin typeface="Space Mono"/>
              </a:rPr>
              <a:t>Dashboard         http://localhost:5050</a:t>
            </a:r>
          </a:p>
        </p:txBody>
      </p:sp>
      <p:sp>
        <p:nvSpPr>
          <p:cNvPr id="11" name="TextBox 10"/>
          <p:cNvSpPr txBox="1"/>
          <p:nvPr/>
        </p:nvSpPr>
        <p:spPr>
          <a:xfrm>
            <a:off x="548640" y="5440680"/>
            <a:ext cx="10972800" cy="457200"/>
          </a:xfrm>
          <a:prstGeom prst="rect">
            <a:avLst/>
          </a:prstGeom>
          <a:noFill/>
        </p:spPr>
        <p:txBody>
          <a:bodyPr wrap="square" lIns="0" rIns="0" tIns="0" bIns="0" anchor="t">
            <a:spAutoFit/>
          </a:bodyPr>
          <a:lstStyle/>
          <a:p>
            <a:pPr algn="l"/>
            <a:r>
              <a:rPr sz="1400" b="0" i="0">
                <a:solidFill>
                  <a:srgbClr val="DCFF1E"/>
                </a:solidFill>
                <a:latin typeface="Space Mono"/>
              </a:rPr>
              <a:t>Redis Insight     http://localhost:5540</a:t>
            </a:r>
          </a:p>
        </p:txBody>
      </p:sp>
      <p:sp>
        <p:nvSpPr>
          <p:cNvPr id="12" name="TextBox 11"/>
          <p:cNvSpPr txBox="1"/>
          <p:nvPr/>
        </p:nvSpPr>
        <p:spPr>
          <a:xfrm>
            <a:off x="548640" y="5760720"/>
            <a:ext cx="10972800" cy="457200"/>
          </a:xfrm>
          <a:prstGeom prst="rect">
            <a:avLst/>
          </a:prstGeom>
          <a:noFill/>
        </p:spPr>
        <p:txBody>
          <a:bodyPr wrap="square" lIns="0" rIns="0" tIns="0" bIns="0" anchor="t">
            <a:spAutoFit/>
          </a:bodyPr>
          <a:lstStyle/>
          <a:p>
            <a:pPr algn="l"/>
            <a:r>
              <a:rPr sz="1400" b="0" i="0">
                <a:solidFill>
                  <a:srgbClr val="DCFF1E"/>
                </a:solidFill>
                <a:latin typeface="Space Mono"/>
              </a:rPr>
              <a:t>RDI control API   https://rdi-api   (default / rdi_demo_pass)</a:t>
            </a:r>
          </a:p>
        </p:txBody>
      </p:sp>
      <p:sp>
        <p:nvSpPr>
          <p:cNvPr id="13" name="TextBox 12"/>
          <p:cNvSpPr txBox="1"/>
          <p:nvPr/>
        </p:nvSpPr>
        <p:spPr>
          <a:xfrm>
            <a:off x="548640" y="6355080"/>
            <a:ext cx="10972800" cy="274320"/>
          </a:xfrm>
          <a:prstGeom prst="rect">
            <a:avLst/>
          </a:prstGeom>
          <a:noFill/>
        </p:spPr>
        <p:txBody>
          <a:bodyPr wrap="square" lIns="0" rIns="0" tIns="0" bIns="0" anchor="t">
            <a:spAutoFit/>
          </a:bodyPr>
          <a:lstStyle/>
          <a:p>
            <a:pPr algn="l"/>
            <a:r>
              <a:rPr sz="1000" b="0" i="0">
                <a:solidFill>
                  <a:srgbClr val="8A99A0"/>
                </a:solidFill>
                <a:latin typeface="Space Mono"/>
              </a:rPr>
              <a:t>Redis Data Integration  ·  prepared for HDFC Securities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15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Rounded Rectangle 9"/>
          <p:cNvSpPr/>
          <p:nvPr/>
        </p:nvSpPr>
        <p:spPr>
          <a:xfrm>
            <a:off x="457200" y="777240"/>
            <a:ext cx="1828800" cy="384048"/>
          </a:xfrm>
          <a:prstGeom prst="roundRect">
            <a:avLst>
              <a:gd name="adj" fmla="val 50000"/>
            </a:avLst>
          </a:prstGeom>
          <a:solidFill>
            <a:srgbClr val="DCF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777240"/>
            <a:ext cx="1828800" cy="384048"/>
          </a:xfrm>
          <a:prstGeom prst="rect">
            <a:avLst/>
          </a:prstGeom>
          <a:noFill/>
        </p:spPr>
        <p:txBody>
          <a:bodyPr wrap="square" lIns="0" rIns="0" tIns="0" bIns="0" anchor="ctr">
            <a:spAutoFit/>
          </a:bodyPr>
          <a:lstStyle/>
          <a:p>
            <a:pPr algn="ctr"/>
            <a:r>
              <a:rPr sz="1200" b="1" i="0">
                <a:solidFill>
                  <a:srgbClr val="091A23"/>
                </a:solidFill>
                <a:latin typeface="Space Mono"/>
              </a:rPr>
              <a:t>SCENARIO 1</a:t>
            </a:r>
          </a:p>
        </p:txBody>
      </p:sp>
      <p:sp>
        <p:nvSpPr>
          <p:cNvPr id="12" name="TextBox 11"/>
          <p:cNvSpPr txBox="1"/>
          <p:nvPr/>
        </p:nvSpPr>
        <p:spPr>
          <a:xfrm>
            <a:off x="2423160" y="777240"/>
            <a:ext cx="3657600" cy="384048"/>
          </a:xfrm>
          <a:prstGeom prst="rect">
            <a:avLst/>
          </a:prstGeom>
          <a:noFill/>
        </p:spPr>
        <p:txBody>
          <a:bodyPr wrap="square" lIns="0" rIns="0" tIns="0" bIns="0" anchor="ctr">
            <a:spAutoFit/>
          </a:bodyPr>
          <a:lstStyle/>
          <a:p>
            <a:pPr algn="l"/>
            <a:r>
              <a:rPr sz="1200" b="0" i="0">
                <a:solidFill>
                  <a:srgbClr val="8A99A0"/>
                </a:solidFill>
                <a:latin typeface="Space Mono"/>
              </a:rPr>
              <a:t>~3 min</a:t>
            </a:r>
          </a:p>
        </p:txBody>
      </p:sp>
      <p:sp>
        <p:nvSpPr>
          <p:cNvPr id="13" name="TextBox 12"/>
          <p:cNvSpPr txBox="1"/>
          <p:nvPr/>
        </p:nvSpPr>
        <p:spPr>
          <a:xfrm>
            <a:off x="457200" y="1325880"/>
            <a:ext cx="11247120" cy="777240"/>
          </a:xfrm>
          <a:prstGeom prst="rect">
            <a:avLst/>
          </a:prstGeom>
          <a:noFill/>
        </p:spPr>
        <p:txBody>
          <a:bodyPr wrap="square" lIns="0" rIns="0" tIns="0" bIns="0" anchor="t">
            <a:spAutoFit/>
          </a:bodyPr>
          <a:lstStyle/>
          <a:p>
            <a:pPr algn="l"/>
            <a:r>
              <a:rPr sz="3200" b="1" i="0">
                <a:solidFill>
                  <a:srgbClr val="091A23"/>
                </a:solidFill>
                <a:latin typeface="Space Grotesk"/>
              </a:rPr>
              <a:t>Initial snapshot — everything is already there</a:t>
            </a:r>
          </a:p>
        </p:txBody>
      </p:sp>
      <p:sp>
        <p:nvSpPr>
          <p:cNvPr id="14" name="TextBox 13"/>
          <p:cNvSpPr txBox="1"/>
          <p:nvPr/>
        </p:nvSpPr>
        <p:spPr>
          <a:xfrm>
            <a:off x="457200" y="2103120"/>
            <a:ext cx="11247120" cy="457200"/>
          </a:xfrm>
          <a:prstGeom prst="rect">
            <a:avLst/>
          </a:prstGeom>
          <a:noFill/>
        </p:spPr>
        <p:txBody>
          <a:bodyPr wrap="square" lIns="0" rIns="0" tIns="0" bIns="0" anchor="t">
            <a:spAutoFit/>
          </a:bodyPr>
          <a:lstStyle/>
          <a:p>
            <a:pPr algn="l"/>
            <a:r>
              <a:rPr sz="1500" b="0" i="1">
                <a:solidFill>
                  <a:srgbClr val="8A99A0"/>
                </a:solidFill>
                <a:latin typeface="Space Grotesk"/>
              </a:rPr>
              <a:t>No cold cache. Day-1 prefetch is done before any user logs in.</a:t>
            </a:r>
          </a:p>
        </p:txBody>
      </p:sp>
      <p:sp>
        <p:nvSpPr>
          <p:cNvPr id="15" name="Rectangle 14"/>
          <p:cNvSpPr/>
          <p:nvPr/>
        </p:nvSpPr>
        <p:spPr>
          <a:xfrm>
            <a:off x="457200" y="2697480"/>
            <a:ext cx="5486400" cy="246888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697480"/>
            <a:ext cx="164592" cy="246888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80360"/>
            <a:ext cx="4937760" cy="365760"/>
          </a:xfrm>
          <a:prstGeom prst="rect">
            <a:avLst/>
          </a:prstGeom>
          <a:noFill/>
        </p:spPr>
        <p:txBody>
          <a:bodyPr wrap="square" lIns="0" rIns="0" tIns="0" bIns="0" anchor="t">
            <a:spAutoFit/>
          </a:bodyPr>
          <a:lstStyle/>
          <a:p>
            <a:pPr algn="l"/>
            <a:r>
              <a:rPr sz="1100" b="1" i="0">
                <a:solidFill>
                  <a:srgbClr val="FF4438"/>
                </a:solidFill>
                <a:latin typeface="Space Mono"/>
              </a:rPr>
              <a:t>WHAT THE ROOM WILL SEE</a:t>
            </a:r>
          </a:p>
        </p:txBody>
      </p:sp>
      <p:sp>
        <p:nvSpPr>
          <p:cNvPr id="18" name="TextBox 17"/>
          <p:cNvSpPr txBox="1"/>
          <p:nvPr/>
        </p:nvSpPr>
        <p:spPr>
          <a:xfrm>
            <a:off x="822960" y="3337560"/>
            <a:ext cx="4937760" cy="164592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Open the dashboard at http://localhost:5050</a:t>
            </a:r>
          </a:p>
          <a:p>
            <a:pPr algn="l">
              <a:spcAft>
                <a:spcPts val="600"/>
              </a:spcAft>
            </a:pPr>
            <a:r>
              <a:rPr sz="1000" b="1">
                <a:solidFill>
                  <a:srgbClr val="FF4438"/>
                </a:solidFill>
                <a:latin typeface="Space Mono"/>
              </a:rPr>
              <a:t>■  </a:t>
            </a:r>
            <a:r>
              <a:rPr sz="1200" b="0">
                <a:solidFill>
                  <a:srgbClr val="163341"/>
                </a:solidFill>
                <a:latin typeface="Space Grotesk"/>
              </a:rPr>
              <a:t>Left rail already lists 10 HDFC Sec customers</a:t>
            </a:r>
          </a:p>
          <a:p>
            <a:pPr algn="l">
              <a:spcAft>
                <a:spcPts val="600"/>
              </a:spcAft>
            </a:pPr>
            <a:r>
              <a:rPr sz="1000" b="1">
                <a:solidFill>
                  <a:srgbClr val="FF4438"/>
                </a:solidFill>
                <a:latin typeface="Space Mono"/>
              </a:rPr>
              <a:t>■  </a:t>
            </a:r>
            <a:r>
              <a:rPr sz="1200" b="0">
                <a:solidFill>
                  <a:srgbClr val="163341"/>
                </a:solidFill>
                <a:latin typeface="Space Grotesk"/>
              </a:rPr>
              <a:t>Pick HS0010001 (retail), then HS0010002 (HNI), HS0010003 (UHNI)</a:t>
            </a:r>
          </a:p>
          <a:p>
            <a:pPr algn="l">
              <a:spcAft>
                <a:spcPts val="600"/>
              </a:spcAft>
            </a:pPr>
            <a:r>
              <a:rPr sz="1000" b="1">
                <a:solidFill>
                  <a:srgbClr val="FF4438"/>
                </a:solidFill>
                <a:latin typeface="Space Mono"/>
              </a:rPr>
              <a:t>■  </a:t>
            </a:r>
            <a:r>
              <a:rPr sz="1200" b="0">
                <a:solidFill>
                  <a:srgbClr val="163341"/>
                </a:solidFill>
                <a:latin typeface="Space Grotesk"/>
              </a:rPr>
              <a:t>Each customer's portfolio renders in single-digit ms</a:t>
            </a:r>
          </a:p>
        </p:txBody>
      </p:sp>
      <p:sp>
        <p:nvSpPr>
          <p:cNvPr id="19" name="Rectangle 18"/>
          <p:cNvSpPr/>
          <p:nvPr/>
        </p:nvSpPr>
        <p:spPr>
          <a:xfrm>
            <a:off x="6263640" y="2697480"/>
            <a:ext cx="5486400" cy="24688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2697480"/>
            <a:ext cx="164592" cy="2468880"/>
          </a:xfrm>
          <a:prstGeom prst="rect">
            <a:avLst/>
          </a:prstGeom>
          <a:solidFill>
            <a:srgbClr val="DCF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2880360"/>
            <a:ext cx="4937760" cy="365760"/>
          </a:xfrm>
          <a:prstGeom prst="rect">
            <a:avLst/>
          </a:prstGeom>
          <a:noFill/>
        </p:spPr>
        <p:txBody>
          <a:bodyPr wrap="square" lIns="0" rIns="0" tIns="0" bIns="0" anchor="t">
            <a:spAutoFit/>
          </a:bodyPr>
          <a:lstStyle/>
          <a:p>
            <a:pPr algn="l"/>
            <a:r>
              <a:rPr sz="1100" b="1" i="0">
                <a:solidFill>
                  <a:srgbClr val="DCFF1E"/>
                </a:solidFill>
                <a:latin typeface="Space Mono"/>
              </a:rPr>
              <a:t>HEADLINE MESSAGE</a:t>
            </a:r>
          </a:p>
        </p:txBody>
      </p:sp>
      <p:sp>
        <p:nvSpPr>
          <p:cNvPr id="22" name="TextBox 21"/>
          <p:cNvSpPr txBox="1"/>
          <p:nvPr/>
        </p:nvSpPr>
        <p:spPr>
          <a:xfrm>
            <a:off x="6629400" y="3337560"/>
            <a:ext cx="4937760" cy="1645920"/>
          </a:xfrm>
          <a:prstGeom prst="rect">
            <a:avLst/>
          </a:prstGeom>
          <a:noFill/>
        </p:spPr>
        <p:txBody>
          <a:bodyPr wrap="square" lIns="0" rIns="0" tIns="0" bIns="0" anchor="t">
            <a:spAutoFit/>
          </a:bodyPr>
          <a:lstStyle/>
          <a:p>
            <a:pPr algn="l"/>
            <a:r>
              <a:rPr sz="1400" b="0" i="1">
                <a:solidFill>
                  <a:srgbClr val="FFFFFF"/>
                </a:solidFill>
                <a:latin typeface="Space Grotesk"/>
              </a:rPr>
              <a:t>“RDI prefetched every customer, security, holding, trade and price from Postgres on stack start. No first-user-pays-the-cold-cache penalty.”</a:t>
            </a:r>
          </a:p>
        </p:txBody>
      </p:sp>
      <p:sp>
        <p:nvSpPr>
          <p:cNvPr id="23" name="Rectangle 22"/>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LOOK HERE</a:t>
            </a:r>
          </a:p>
        </p:txBody>
      </p:sp>
      <p:sp>
        <p:nvSpPr>
          <p:cNvPr id="26" name="TextBox 25"/>
          <p:cNvSpPr txBox="1"/>
          <p:nvPr/>
        </p:nvSpPr>
        <p:spPr>
          <a:xfrm>
            <a:off x="777240" y="5669280"/>
            <a:ext cx="10972800" cy="640080"/>
          </a:xfrm>
          <a:prstGeom prst="rect">
            <a:avLst/>
          </a:prstGeom>
          <a:noFill/>
        </p:spPr>
        <p:txBody>
          <a:bodyPr wrap="square" lIns="0" rIns="0" tIns="0" bIns="0" anchor="t">
            <a:spAutoFit/>
          </a:bodyPr>
          <a:lstStyle/>
          <a:p>
            <a:pPr algn="l"/>
            <a:r>
              <a:rPr sz="1100" b="0" i="0">
                <a:solidFill>
                  <a:srgbClr val="163341"/>
                </a:solidFill>
                <a:latin typeface="Space Grotesk"/>
              </a:rPr>
              <a:t>■  Dashboard left rail    ■  Refresh time on right    ■  Portfolio holdings table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16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Rounded Rectangle 9"/>
          <p:cNvSpPr/>
          <p:nvPr/>
        </p:nvSpPr>
        <p:spPr>
          <a:xfrm>
            <a:off x="457200" y="777240"/>
            <a:ext cx="1828800" cy="384048"/>
          </a:xfrm>
          <a:prstGeom prst="roundRect">
            <a:avLst>
              <a:gd name="adj" fmla="val 50000"/>
            </a:avLst>
          </a:prstGeom>
          <a:solidFill>
            <a:srgbClr val="DCF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777240"/>
            <a:ext cx="1828800" cy="384048"/>
          </a:xfrm>
          <a:prstGeom prst="rect">
            <a:avLst/>
          </a:prstGeom>
          <a:noFill/>
        </p:spPr>
        <p:txBody>
          <a:bodyPr wrap="square" lIns="0" rIns="0" tIns="0" bIns="0" anchor="ctr">
            <a:spAutoFit/>
          </a:bodyPr>
          <a:lstStyle/>
          <a:p>
            <a:pPr algn="ctr"/>
            <a:r>
              <a:rPr sz="1200" b="1" i="0">
                <a:solidFill>
                  <a:srgbClr val="091A23"/>
                </a:solidFill>
                <a:latin typeface="Space Mono"/>
              </a:rPr>
              <a:t>SCENARIO 2</a:t>
            </a:r>
          </a:p>
        </p:txBody>
      </p:sp>
      <p:sp>
        <p:nvSpPr>
          <p:cNvPr id="12" name="TextBox 11"/>
          <p:cNvSpPr txBox="1"/>
          <p:nvPr/>
        </p:nvSpPr>
        <p:spPr>
          <a:xfrm>
            <a:off x="2423160" y="777240"/>
            <a:ext cx="3657600" cy="384048"/>
          </a:xfrm>
          <a:prstGeom prst="rect">
            <a:avLst/>
          </a:prstGeom>
          <a:noFill/>
        </p:spPr>
        <p:txBody>
          <a:bodyPr wrap="square" lIns="0" rIns="0" tIns="0" bIns="0" anchor="ctr">
            <a:spAutoFit/>
          </a:bodyPr>
          <a:lstStyle/>
          <a:p>
            <a:pPr algn="l"/>
            <a:r>
              <a:rPr sz="1200" b="0" i="0">
                <a:solidFill>
                  <a:srgbClr val="8A99A0"/>
                </a:solidFill>
                <a:latin typeface="Space Mono"/>
              </a:rPr>
              <a:t>~4 min</a:t>
            </a:r>
          </a:p>
        </p:txBody>
      </p:sp>
      <p:sp>
        <p:nvSpPr>
          <p:cNvPr id="13" name="TextBox 12"/>
          <p:cNvSpPr txBox="1"/>
          <p:nvPr/>
        </p:nvSpPr>
        <p:spPr>
          <a:xfrm>
            <a:off x="457200" y="1325880"/>
            <a:ext cx="11247120" cy="777240"/>
          </a:xfrm>
          <a:prstGeom prst="rect">
            <a:avLst/>
          </a:prstGeom>
          <a:noFill/>
        </p:spPr>
        <p:txBody>
          <a:bodyPr wrap="square" lIns="0" rIns="0" tIns="0" bIns="0" anchor="t">
            <a:spAutoFit/>
          </a:bodyPr>
          <a:lstStyle/>
          <a:p>
            <a:pPr algn="l"/>
            <a:r>
              <a:rPr sz="3200" b="1" i="0">
                <a:solidFill>
                  <a:srgbClr val="091A23"/>
                </a:solidFill>
                <a:latin typeface="Space Grotesk"/>
              </a:rPr>
              <a:t>Live trade — Oracle change to Redis cache in ~1 second</a:t>
            </a:r>
          </a:p>
        </p:txBody>
      </p:sp>
      <p:sp>
        <p:nvSpPr>
          <p:cNvPr id="14" name="TextBox 13"/>
          <p:cNvSpPr txBox="1"/>
          <p:nvPr/>
        </p:nvSpPr>
        <p:spPr>
          <a:xfrm>
            <a:off x="457200" y="2103120"/>
            <a:ext cx="11247120" cy="457200"/>
          </a:xfrm>
          <a:prstGeom prst="rect">
            <a:avLst/>
          </a:prstGeom>
          <a:noFill/>
        </p:spPr>
        <p:txBody>
          <a:bodyPr wrap="square" lIns="0" rIns="0" tIns="0" bIns="0" anchor="t">
            <a:spAutoFit/>
          </a:bodyPr>
          <a:lstStyle/>
          <a:p>
            <a:pPr algn="l"/>
            <a:r>
              <a:rPr sz="1500" b="0" i="1">
                <a:solidFill>
                  <a:srgbClr val="8A99A0"/>
                </a:solidFill>
                <a:latin typeface="Space Grotesk"/>
              </a:rPr>
              <a:t>Insert one BUY in Postgres. Watch the dashboard reflect it without any app change.</a:t>
            </a:r>
          </a:p>
        </p:txBody>
      </p:sp>
      <p:sp>
        <p:nvSpPr>
          <p:cNvPr id="15" name="Rectangle 14"/>
          <p:cNvSpPr/>
          <p:nvPr/>
        </p:nvSpPr>
        <p:spPr>
          <a:xfrm>
            <a:off x="457200" y="2697480"/>
            <a:ext cx="5486400" cy="246888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697480"/>
            <a:ext cx="164592" cy="246888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80360"/>
            <a:ext cx="4937760" cy="365760"/>
          </a:xfrm>
          <a:prstGeom prst="rect">
            <a:avLst/>
          </a:prstGeom>
          <a:noFill/>
        </p:spPr>
        <p:txBody>
          <a:bodyPr wrap="square" lIns="0" rIns="0" tIns="0" bIns="0" anchor="t">
            <a:spAutoFit/>
          </a:bodyPr>
          <a:lstStyle/>
          <a:p>
            <a:pPr algn="l"/>
            <a:r>
              <a:rPr sz="1100" b="1" i="0">
                <a:solidFill>
                  <a:srgbClr val="FF4438"/>
                </a:solidFill>
                <a:latin typeface="Space Mono"/>
              </a:rPr>
              <a:t>WHAT THE ROOM WILL SEE</a:t>
            </a:r>
          </a:p>
        </p:txBody>
      </p:sp>
      <p:sp>
        <p:nvSpPr>
          <p:cNvPr id="18" name="TextBox 17"/>
          <p:cNvSpPr txBox="1"/>
          <p:nvPr/>
        </p:nvSpPr>
        <p:spPr>
          <a:xfrm>
            <a:off x="822960" y="3337560"/>
            <a:ext cx="4937760" cy="164592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psql session showing the existing last 3 trades</a:t>
            </a:r>
          </a:p>
          <a:p>
            <a:pPr algn="l">
              <a:spcAft>
                <a:spcPts val="600"/>
              </a:spcAft>
            </a:pPr>
            <a:r>
              <a:rPr sz="1000" b="1">
                <a:solidFill>
                  <a:srgbClr val="FF4438"/>
                </a:solidFill>
                <a:latin typeface="Space Mono"/>
              </a:rPr>
              <a:t>■  </a:t>
            </a:r>
            <a:r>
              <a:rPr sz="1200" b="0">
                <a:solidFill>
                  <a:srgbClr val="163341"/>
                </a:solidFill>
                <a:latin typeface="Space Grotesk"/>
              </a:rPr>
              <a:t>Single INSERT — order_id DEMO-LIVE-001</a:t>
            </a:r>
          </a:p>
          <a:p>
            <a:pPr algn="l">
              <a:spcAft>
                <a:spcPts val="600"/>
              </a:spcAft>
            </a:pPr>
            <a:r>
              <a:rPr sz="1000" b="1">
                <a:solidFill>
                  <a:srgbClr val="FF4438"/>
                </a:solidFill>
                <a:latin typeface="Space Mono"/>
              </a:rPr>
              <a:t>■  </a:t>
            </a:r>
            <a:r>
              <a:rPr sz="1200" b="0">
                <a:solidFill>
                  <a:srgbClr val="163341"/>
                </a:solidFill>
                <a:latin typeface="Space Grotesk"/>
              </a:rPr>
              <a:t>Dashboard 'Recent trade stream' panel: new BUY row appears</a:t>
            </a:r>
          </a:p>
          <a:p>
            <a:pPr algn="l">
              <a:spcAft>
                <a:spcPts val="600"/>
              </a:spcAft>
            </a:pPr>
            <a:r>
              <a:rPr sz="1000" b="1">
                <a:solidFill>
                  <a:srgbClr val="FF4438"/>
                </a:solidFill>
                <a:latin typeface="Space Mono"/>
              </a:rPr>
              <a:t>■  </a:t>
            </a:r>
            <a:r>
              <a:rPr sz="1200" b="0">
                <a:solidFill>
                  <a:srgbClr val="163341"/>
                </a:solidFill>
                <a:latin typeface="Space Grotesk"/>
              </a:rPr>
              <a:t>'RDI pipeline streams' card: trade count ticks up</a:t>
            </a:r>
          </a:p>
        </p:txBody>
      </p:sp>
      <p:sp>
        <p:nvSpPr>
          <p:cNvPr id="19" name="Rectangle 18"/>
          <p:cNvSpPr/>
          <p:nvPr/>
        </p:nvSpPr>
        <p:spPr>
          <a:xfrm>
            <a:off x="6263640" y="2697480"/>
            <a:ext cx="5486400" cy="24688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2697480"/>
            <a:ext cx="164592" cy="2468880"/>
          </a:xfrm>
          <a:prstGeom prst="rect">
            <a:avLst/>
          </a:prstGeom>
          <a:solidFill>
            <a:srgbClr val="DCF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2880360"/>
            <a:ext cx="4937760" cy="365760"/>
          </a:xfrm>
          <a:prstGeom prst="rect">
            <a:avLst/>
          </a:prstGeom>
          <a:noFill/>
        </p:spPr>
        <p:txBody>
          <a:bodyPr wrap="square" lIns="0" rIns="0" tIns="0" bIns="0" anchor="t">
            <a:spAutoFit/>
          </a:bodyPr>
          <a:lstStyle/>
          <a:p>
            <a:pPr algn="l"/>
            <a:r>
              <a:rPr sz="1100" b="1" i="0">
                <a:solidFill>
                  <a:srgbClr val="DCFF1E"/>
                </a:solidFill>
                <a:latin typeface="Space Mono"/>
              </a:rPr>
              <a:t>HEADLINE MESSAGE</a:t>
            </a:r>
          </a:p>
        </p:txBody>
      </p:sp>
      <p:sp>
        <p:nvSpPr>
          <p:cNvPr id="22" name="TextBox 21"/>
          <p:cNvSpPr txBox="1"/>
          <p:nvPr/>
        </p:nvSpPr>
        <p:spPr>
          <a:xfrm>
            <a:off x="6629400" y="3337560"/>
            <a:ext cx="4937760" cy="1645920"/>
          </a:xfrm>
          <a:prstGeom prst="rect">
            <a:avLst/>
          </a:prstGeom>
          <a:noFill/>
        </p:spPr>
        <p:txBody>
          <a:bodyPr wrap="square" lIns="0" rIns="0" tIns="0" bIns="0" anchor="t">
            <a:spAutoFit/>
          </a:bodyPr>
          <a:lstStyle/>
          <a:p>
            <a:pPr algn="l"/>
            <a:r>
              <a:rPr sz="1400" b="0" i="1">
                <a:solidFill>
                  <a:srgbClr val="FFFFFF"/>
                </a:solidFill>
                <a:latin typeface="Space Grotesk"/>
              </a:rPr>
              <a:t>“No cache invalidation logic. No retry queue. The new trade landed in Redis because RDI is tailing the WAL — that's it.”</a:t>
            </a:r>
          </a:p>
        </p:txBody>
      </p:sp>
      <p:sp>
        <p:nvSpPr>
          <p:cNvPr id="23" name="Rectangle 22"/>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LOOK HERE</a:t>
            </a:r>
          </a:p>
        </p:txBody>
      </p:sp>
      <p:sp>
        <p:nvSpPr>
          <p:cNvPr id="26" name="TextBox 25"/>
          <p:cNvSpPr txBox="1"/>
          <p:nvPr/>
        </p:nvSpPr>
        <p:spPr>
          <a:xfrm>
            <a:off x="777240" y="5669280"/>
            <a:ext cx="10972800" cy="640080"/>
          </a:xfrm>
          <a:prstGeom prst="rect">
            <a:avLst/>
          </a:prstGeom>
          <a:noFill/>
        </p:spPr>
        <p:txBody>
          <a:bodyPr wrap="square" lIns="0" rIns="0" tIns="0" bIns="0" anchor="t">
            <a:spAutoFit/>
          </a:bodyPr>
          <a:lstStyle/>
          <a:p>
            <a:pPr algn="l"/>
            <a:r>
              <a:rPr sz="1100" b="0" i="0">
                <a:solidFill>
                  <a:srgbClr val="163341"/>
                </a:solidFill>
                <a:latin typeface="Space Grotesk"/>
              </a:rPr>
              <a:t>■  psql terminal    ■  Dashboard → Recent trade stream    ■  Dashboard → RDI pipeline streams card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17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Rounded Rectangle 9"/>
          <p:cNvSpPr/>
          <p:nvPr/>
        </p:nvSpPr>
        <p:spPr>
          <a:xfrm>
            <a:off x="457200" y="777240"/>
            <a:ext cx="1828800" cy="384048"/>
          </a:xfrm>
          <a:prstGeom prst="roundRect">
            <a:avLst>
              <a:gd name="adj" fmla="val 50000"/>
            </a:avLst>
          </a:prstGeom>
          <a:solidFill>
            <a:srgbClr val="DCF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777240"/>
            <a:ext cx="1828800" cy="384048"/>
          </a:xfrm>
          <a:prstGeom prst="rect">
            <a:avLst/>
          </a:prstGeom>
          <a:noFill/>
        </p:spPr>
        <p:txBody>
          <a:bodyPr wrap="square" lIns="0" rIns="0" tIns="0" bIns="0" anchor="ctr">
            <a:spAutoFit/>
          </a:bodyPr>
          <a:lstStyle/>
          <a:p>
            <a:pPr algn="ctr"/>
            <a:r>
              <a:rPr sz="1200" b="1" i="0">
                <a:solidFill>
                  <a:srgbClr val="091A23"/>
                </a:solidFill>
                <a:latin typeface="Space Mono"/>
              </a:rPr>
              <a:t>SCENARIO 3</a:t>
            </a:r>
          </a:p>
        </p:txBody>
      </p:sp>
      <p:sp>
        <p:nvSpPr>
          <p:cNvPr id="12" name="TextBox 11"/>
          <p:cNvSpPr txBox="1"/>
          <p:nvPr/>
        </p:nvSpPr>
        <p:spPr>
          <a:xfrm>
            <a:off x="2423160" y="777240"/>
            <a:ext cx="3657600" cy="384048"/>
          </a:xfrm>
          <a:prstGeom prst="rect">
            <a:avLst/>
          </a:prstGeom>
          <a:noFill/>
        </p:spPr>
        <p:txBody>
          <a:bodyPr wrap="square" lIns="0" rIns="0" tIns="0" bIns="0" anchor="ctr">
            <a:spAutoFit/>
          </a:bodyPr>
          <a:lstStyle/>
          <a:p>
            <a:pPr algn="l"/>
            <a:r>
              <a:rPr sz="1200" b="0" i="0">
                <a:solidFill>
                  <a:srgbClr val="8A99A0"/>
                </a:solidFill>
                <a:latin typeface="Space Mono"/>
              </a:rPr>
              <a:t>~3 min</a:t>
            </a:r>
          </a:p>
        </p:txBody>
      </p:sp>
      <p:sp>
        <p:nvSpPr>
          <p:cNvPr id="13" name="TextBox 12"/>
          <p:cNvSpPr txBox="1"/>
          <p:nvPr/>
        </p:nvSpPr>
        <p:spPr>
          <a:xfrm>
            <a:off x="457200" y="1325880"/>
            <a:ext cx="11247120" cy="777240"/>
          </a:xfrm>
          <a:prstGeom prst="rect">
            <a:avLst/>
          </a:prstGeom>
          <a:noFill/>
        </p:spPr>
        <p:txBody>
          <a:bodyPr wrap="square" lIns="0" rIns="0" tIns="0" bIns="0" anchor="t">
            <a:spAutoFit/>
          </a:bodyPr>
          <a:lstStyle/>
          <a:p>
            <a:pPr algn="l"/>
            <a:r>
              <a:rPr sz="3200" b="1" i="0">
                <a:solidFill>
                  <a:srgbClr val="091A23"/>
                </a:solidFill>
                <a:latin typeface="Space Grotesk"/>
              </a:rPr>
              <a:t>Live load — peak-hour simulation</a:t>
            </a:r>
          </a:p>
        </p:txBody>
      </p:sp>
      <p:sp>
        <p:nvSpPr>
          <p:cNvPr id="14" name="TextBox 13"/>
          <p:cNvSpPr txBox="1"/>
          <p:nvPr/>
        </p:nvSpPr>
        <p:spPr>
          <a:xfrm>
            <a:off x="457200" y="2103120"/>
            <a:ext cx="11247120" cy="457200"/>
          </a:xfrm>
          <a:prstGeom prst="rect">
            <a:avLst/>
          </a:prstGeom>
          <a:noFill/>
        </p:spPr>
        <p:txBody>
          <a:bodyPr wrap="square" lIns="0" rIns="0" tIns="0" bIns="0" anchor="t">
            <a:spAutoFit/>
          </a:bodyPr>
          <a:lstStyle/>
          <a:p>
            <a:pPr algn="l"/>
            <a:r>
              <a:rPr sz="1500" b="0" i="1">
                <a:solidFill>
                  <a:srgbClr val="8A99A0"/>
                </a:solidFill>
                <a:latin typeface="Space Grotesk"/>
              </a:rPr>
              <a:t>Trade ticker + price ticker running together at broker-peak rate.</a:t>
            </a:r>
          </a:p>
        </p:txBody>
      </p:sp>
      <p:sp>
        <p:nvSpPr>
          <p:cNvPr id="15" name="Rectangle 14"/>
          <p:cNvSpPr/>
          <p:nvPr/>
        </p:nvSpPr>
        <p:spPr>
          <a:xfrm>
            <a:off x="457200" y="2697480"/>
            <a:ext cx="5486400" cy="246888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697480"/>
            <a:ext cx="164592" cy="246888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80360"/>
            <a:ext cx="4937760" cy="365760"/>
          </a:xfrm>
          <a:prstGeom prst="rect">
            <a:avLst/>
          </a:prstGeom>
          <a:noFill/>
        </p:spPr>
        <p:txBody>
          <a:bodyPr wrap="square" lIns="0" rIns="0" tIns="0" bIns="0" anchor="t">
            <a:spAutoFit/>
          </a:bodyPr>
          <a:lstStyle/>
          <a:p>
            <a:pPr algn="l"/>
            <a:r>
              <a:rPr sz="1100" b="1" i="0">
                <a:solidFill>
                  <a:srgbClr val="FF4438"/>
                </a:solidFill>
                <a:latin typeface="Space Mono"/>
              </a:rPr>
              <a:t>WHAT THE ROOM WILL SEE</a:t>
            </a:r>
          </a:p>
        </p:txBody>
      </p:sp>
      <p:sp>
        <p:nvSpPr>
          <p:cNvPr id="18" name="TextBox 17"/>
          <p:cNvSpPr txBox="1"/>
          <p:nvPr/>
        </p:nvSpPr>
        <p:spPr>
          <a:xfrm>
            <a:off x="822960" y="3337560"/>
            <a:ext cx="4937760" cy="164592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Day-% column flickers across rows as prices tick</a:t>
            </a:r>
          </a:p>
          <a:p>
            <a:pPr algn="l">
              <a:spcAft>
                <a:spcPts val="600"/>
              </a:spcAft>
            </a:pPr>
            <a:r>
              <a:rPr sz="1000" b="1">
                <a:solidFill>
                  <a:srgbClr val="FF4438"/>
                </a:solidFill>
                <a:latin typeface="Space Mono"/>
              </a:rPr>
              <a:t>■  </a:t>
            </a:r>
            <a:r>
              <a:rPr sz="1200" b="0">
                <a:solidFill>
                  <a:srgbClr val="163341"/>
                </a:solidFill>
                <a:latin typeface="Space Grotesk"/>
              </a:rPr>
              <a:t>RDI pipeline streams card increments visibly</a:t>
            </a:r>
          </a:p>
          <a:p>
            <a:pPr algn="l">
              <a:spcAft>
                <a:spcPts val="600"/>
              </a:spcAft>
            </a:pPr>
            <a:r>
              <a:rPr sz="1000" b="1">
                <a:solidFill>
                  <a:srgbClr val="FF4438"/>
                </a:solidFill>
                <a:latin typeface="Space Mono"/>
              </a:rPr>
              <a:t>■  </a:t>
            </a:r>
            <a:r>
              <a:rPr sz="1200" b="0">
                <a:solidFill>
                  <a:srgbClr val="163341"/>
                </a:solidFill>
                <a:latin typeface="Space Grotesk"/>
              </a:rPr>
              <a:t>Trade stream gets several entries per minute</a:t>
            </a:r>
          </a:p>
          <a:p>
            <a:pPr algn="l">
              <a:spcAft>
                <a:spcPts val="600"/>
              </a:spcAft>
            </a:pPr>
            <a:r>
              <a:rPr sz="1000" b="1">
                <a:solidFill>
                  <a:srgbClr val="FF4438"/>
                </a:solidFill>
                <a:latin typeface="Space Mono"/>
              </a:rPr>
              <a:t>■  </a:t>
            </a:r>
            <a:r>
              <a:rPr sz="1200" b="0">
                <a:solidFill>
                  <a:srgbClr val="163341"/>
                </a:solidFill>
                <a:latin typeface="Space Grotesk"/>
              </a:rPr>
              <a:t>Dashboard refresh latency stays sub-ms throughout</a:t>
            </a:r>
          </a:p>
        </p:txBody>
      </p:sp>
      <p:sp>
        <p:nvSpPr>
          <p:cNvPr id="19" name="Rectangle 18"/>
          <p:cNvSpPr/>
          <p:nvPr/>
        </p:nvSpPr>
        <p:spPr>
          <a:xfrm>
            <a:off x="6263640" y="2697480"/>
            <a:ext cx="5486400" cy="24688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2697480"/>
            <a:ext cx="164592" cy="2468880"/>
          </a:xfrm>
          <a:prstGeom prst="rect">
            <a:avLst/>
          </a:prstGeom>
          <a:solidFill>
            <a:srgbClr val="DCF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2880360"/>
            <a:ext cx="4937760" cy="365760"/>
          </a:xfrm>
          <a:prstGeom prst="rect">
            <a:avLst/>
          </a:prstGeom>
          <a:noFill/>
        </p:spPr>
        <p:txBody>
          <a:bodyPr wrap="square" lIns="0" rIns="0" tIns="0" bIns="0" anchor="t">
            <a:spAutoFit/>
          </a:bodyPr>
          <a:lstStyle/>
          <a:p>
            <a:pPr algn="l"/>
            <a:r>
              <a:rPr sz="1100" b="1" i="0">
                <a:solidFill>
                  <a:srgbClr val="DCFF1E"/>
                </a:solidFill>
                <a:latin typeface="Space Mono"/>
              </a:rPr>
              <a:t>HEADLINE MESSAGE</a:t>
            </a:r>
          </a:p>
        </p:txBody>
      </p:sp>
      <p:sp>
        <p:nvSpPr>
          <p:cNvPr id="22" name="TextBox 21"/>
          <p:cNvSpPr txBox="1"/>
          <p:nvPr/>
        </p:nvSpPr>
        <p:spPr>
          <a:xfrm>
            <a:off x="6629400" y="3337560"/>
            <a:ext cx="4937760" cy="1645920"/>
          </a:xfrm>
          <a:prstGeom prst="rect">
            <a:avLst/>
          </a:prstGeom>
          <a:noFill/>
        </p:spPr>
        <p:txBody>
          <a:bodyPr wrap="square" lIns="0" rIns="0" tIns="0" bIns="0" anchor="t">
            <a:spAutoFit/>
          </a:bodyPr>
          <a:lstStyle/>
          <a:p>
            <a:pPr algn="l"/>
            <a:r>
              <a:rPr sz="1400" b="0" i="1">
                <a:solidFill>
                  <a:srgbClr val="FFFFFF"/>
                </a:solidFill>
                <a:latin typeface="Space Grotesk"/>
              </a:rPr>
              <a:t>“Everything you just saw for one trade is happening at scale. RDI processor sustains ~10k records/sec/core — we are nowhere near saturation here.”</a:t>
            </a:r>
          </a:p>
        </p:txBody>
      </p:sp>
      <p:sp>
        <p:nvSpPr>
          <p:cNvPr id="23" name="Rectangle 22"/>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LOOK HERE</a:t>
            </a:r>
          </a:p>
        </p:txBody>
      </p:sp>
      <p:sp>
        <p:nvSpPr>
          <p:cNvPr id="26" name="TextBox 25"/>
          <p:cNvSpPr txBox="1"/>
          <p:nvPr/>
        </p:nvSpPr>
        <p:spPr>
          <a:xfrm>
            <a:off x="777240" y="5669280"/>
            <a:ext cx="10972800" cy="640080"/>
          </a:xfrm>
          <a:prstGeom prst="rect">
            <a:avLst/>
          </a:prstGeom>
          <a:noFill/>
        </p:spPr>
        <p:txBody>
          <a:bodyPr wrap="square" lIns="0" rIns="0" tIns="0" bIns="0" anchor="t">
            <a:spAutoFit/>
          </a:bodyPr>
          <a:lstStyle/>
          <a:p>
            <a:pPr algn="l"/>
            <a:r>
              <a:rPr sz="1100" b="0" i="0">
                <a:solidFill>
                  <a:srgbClr val="163341"/>
                </a:solidFill>
                <a:latin typeface="Space Grotesk"/>
              </a:rPr>
              <a:t>■  Dashboard holdings table → Day %    ■  RDI pipeline streams (per-table counts)    ■  Trade stream — multiple entries per minute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18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Rounded Rectangle 9"/>
          <p:cNvSpPr/>
          <p:nvPr/>
        </p:nvSpPr>
        <p:spPr>
          <a:xfrm>
            <a:off x="457200" y="777240"/>
            <a:ext cx="1828800" cy="384048"/>
          </a:xfrm>
          <a:prstGeom prst="roundRect">
            <a:avLst>
              <a:gd name="adj" fmla="val 50000"/>
            </a:avLst>
          </a:prstGeom>
          <a:solidFill>
            <a:srgbClr val="DCF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777240"/>
            <a:ext cx="1828800" cy="384048"/>
          </a:xfrm>
          <a:prstGeom prst="rect">
            <a:avLst/>
          </a:prstGeom>
          <a:noFill/>
        </p:spPr>
        <p:txBody>
          <a:bodyPr wrap="square" lIns="0" rIns="0" tIns="0" bIns="0" anchor="ctr">
            <a:spAutoFit/>
          </a:bodyPr>
          <a:lstStyle/>
          <a:p>
            <a:pPr algn="ctr"/>
            <a:r>
              <a:rPr sz="1200" b="1" i="0">
                <a:solidFill>
                  <a:srgbClr val="091A23"/>
                </a:solidFill>
                <a:latin typeface="Space Mono"/>
              </a:rPr>
              <a:t>SCENARIO 4</a:t>
            </a:r>
          </a:p>
        </p:txBody>
      </p:sp>
      <p:sp>
        <p:nvSpPr>
          <p:cNvPr id="12" name="TextBox 11"/>
          <p:cNvSpPr txBox="1"/>
          <p:nvPr/>
        </p:nvSpPr>
        <p:spPr>
          <a:xfrm>
            <a:off x="2423160" y="777240"/>
            <a:ext cx="3657600" cy="384048"/>
          </a:xfrm>
          <a:prstGeom prst="rect">
            <a:avLst/>
          </a:prstGeom>
          <a:noFill/>
        </p:spPr>
        <p:txBody>
          <a:bodyPr wrap="square" lIns="0" rIns="0" tIns="0" bIns="0" anchor="ctr">
            <a:spAutoFit/>
          </a:bodyPr>
          <a:lstStyle/>
          <a:p>
            <a:pPr algn="l"/>
            <a:r>
              <a:rPr sz="1200" b="0" i="0">
                <a:solidFill>
                  <a:srgbClr val="8A99A0"/>
                </a:solidFill>
                <a:latin typeface="Space Mono"/>
              </a:rPr>
              <a:t>~3 min</a:t>
            </a:r>
          </a:p>
        </p:txBody>
      </p:sp>
      <p:sp>
        <p:nvSpPr>
          <p:cNvPr id="13" name="TextBox 12"/>
          <p:cNvSpPr txBox="1"/>
          <p:nvPr/>
        </p:nvSpPr>
        <p:spPr>
          <a:xfrm>
            <a:off x="457200" y="1325880"/>
            <a:ext cx="11247120" cy="777240"/>
          </a:xfrm>
          <a:prstGeom prst="rect">
            <a:avLst/>
          </a:prstGeom>
          <a:noFill/>
        </p:spPr>
        <p:txBody>
          <a:bodyPr wrap="square" lIns="0" rIns="0" tIns="0" bIns="0" anchor="t">
            <a:spAutoFit/>
          </a:bodyPr>
          <a:lstStyle/>
          <a:p>
            <a:pPr algn="l"/>
            <a:r>
              <a:rPr sz="3200" b="1" i="0">
                <a:solidFill>
                  <a:srgbClr val="091A23"/>
                </a:solidFill>
                <a:latin typeface="Space Grotesk"/>
              </a:rPr>
              <a:t>Postgres vs Redis — same query, two answers</a:t>
            </a:r>
          </a:p>
        </p:txBody>
      </p:sp>
      <p:sp>
        <p:nvSpPr>
          <p:cNvPr id="14" name="TextBox 13"/>
          <p:cNvSpPr txBox="1"/>
          <p:nvPr/>
        </p:nvSpPr>
        <p:spPr>
          <a:xfrm>
            <a:off x="457200" y="2103120"/>
            <a:ext cx="11247120" cy="457200"/>
          </a:xfrm>
          <a:prstGeom prst="rect">
            <a:avLst/>
          </a:prstGeom>
          <a:noFill/>
        </p:spPr>
        <p:txBody>
          <a:bodyPr wrap="square" lIns="0" rIns="0" tIns="0" bIns="0" anchor="t">
            <a:spAutoFit/>
          </a:bodyPr>
          <a:lstStyle/>
          <a:p>
            <a:pPr algn="l"/>
            <a:r>
              <a:rPr sz="1500" b="0" i="1">
                <a:solidFill>
                  <a:srgbClr val="8A99A0"/>
                </a:solidFill>
                <a:latin typeface="Space Grotesk"/>
              </a:rPr>
              <a:t>The dashboard runs the same portfolio-summary query against both. Ratio matters more than absolute numbers.</a:t>
            </a:r>
          </a:p>
        </p:txBody>
      </p:sp>
      <p:sp>
        <p:nvSpPr>
          <p:cNvPr id="15" name="Rectangle 14"/>
          <p:cNvSpPr/>
          <p:nvPr/>
        </p:nvSpPr>
        <p:spPr>
          <a:xfrm>
            <a:off x="457200" y="2697480"/>
            <a:ext cx="5486400" cy="246888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697480"/>
            <a:ext cx="164592" cy="246888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80360"/>
            <a:ext cx="4937760" cy="365760"/>
          </a:xfrm>
          <a:prstGeom prst="rect">
            <a:avLst/>
          </a:prstGeom>
          <a:noFill/>
        </p:spPr>
        <p:txBody>
          <a:bodyPr wrap="square" lIns="0" rIns="0" tIns="0" bIns="0" anchor="t">
            <a:spAutoFit/>
          </a:bodyPr>
          <a:lstStyle/>
          <a:p>
            <a:pPr algn="l"/>
            <a:r>
              <a:rPr sz="1100" b="1" i="0">
                <a:solidFill>
                  <a:srgbClr val="FF4438"/>
                </a:solidFill>
                <a:latin typeface="Space Mono"/>
              </a:rPr>
              <a:t>WHAT THE ROOM WILL SEE</a:t>
            </a:r>
          </a:p>
        </p:txBody>
      </p:sp>
      <p:sp>
        <p:nvSpPr>
          <p:cNvPr id="18" name="TextBox 17"/>
          <p:cNvSpPr txBox="1"/>
          <p:nvPr/>
        </p:nvSpPr>
        <p:spPr>
          <a:xfrm>
            <a:off x="822960" y="3337560"/>
            <a:ext cx="4937760" cy="164592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Latency panel on right of dashboard</a:t>
            </a:r>
          </a:p>
          <a:p>
            <a:pPr algn="l">
              <a:spcAft>
                <a:spcPts val="600"/>
              </a:spcAft>
            </a:pPr>
            <a:r>
              <a:rPr sz="1000" b="1">
                <a:solidFill>
                  <a:srgbClr val="FF4438"/>
                </a:solidFill>
                <a:latin typeface="Space Mono"/>
              </a:rPr>
              <a:t>■  </a:t>
            </a:r>
            <a:r>
              <a:rPr sz="1200" b="0">
                <a:solidFill>
                  <a:srgbClr val="163341"/>
                </a:solidFill>
                <a:latin typeface="Space Grotesk"/>
              </a:rPr>
              <a:t>Click 'Run again' three times — numbers stabilise</a:t>
            </a:r>
          </a:p>
          <a:p>
            <a:pPr algn="l">
              <a:spcAft>
                <a:spcPts val="600"/>
              </a:spcAft>
            </a:pPr>
            <a:r>
              <a:rPr sz="1000" b="1">
                <a:solidFill>
                  <a:srgbClr val="FF4438"/>
                </a:solidFill>
                <a:latin typeface="Space Mono"/>
              </a:rPr>
              <a:t>■  </a:t>
            </a:r>
            <a:r>
              <a:rPr sz="1200" b="0">
                <a:solidFill>
                  <a:srgbClr val="163341"/>
                </a:solidFill>
                <a:latin typeface="Space Grotesk"/>
              </a:rPr>
              <a:t>Postgres: tens of ms.  Redis: sub-ms.</a:t>
            </a:r>
          </a:p>
          <a:p>
            <a:pPr algn="l">
              <a:spcAft>
                <a:spcPts val="600"/>
              </a:spcAft>
            </a:pPr>
            <a:r>
              <a:rPr sz="1000" b="1">
                <a:solidFill>
                  <a:srgbClr val="FF4438"/>
                </a:solidFill>
                <a:latin typeface="Space Mono"/>
              </a:rPr>
              <a:t>■  </a:t>
            </a:r>
            <a:r>
              <a:rPr sz="1200" b="0">
                <a:solidFill>
                  <a:srgbClr val="163341"/>
                </a:solidFill>
                <a:latin typeface="Space Grotesk"/>
              </a:rPr>
              <a:t>4–8× speedup, consistently across runs</a:t>
            </a:r>
          </a:p>
        </p:txBody>
      </p:sp>
      <p:sp>
        <p:nvSpPr>
          <p:cNvPr id="19" name="Rectangle 18"/>
          <p:cNvSpPr/>
          <p:nvPr/>
        </p:nvSpPr>
        <p:spPr>
          <a:xfrm>
            <a:off x="6263640" y="2697480"/>
            <a:ext cx="5486400" cy="24688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2697480"/>
            <a:ext cx="164592" cy="2468880"/>
          </a:xfrm>
          <a:prstGeom prst="rect">
            <a:avLst/>
          </a:prstGeom>
          <a:solidFill>
            <a:srgbClr val="DCF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2880360"/>
            <a:ext cx="4937760" cy="365760"/>
          </a:xfrm>
          <a:prstGeom prst="rect">
            <a:avLst/>
          </a:prstGeom>
          <a:noFill/>
        </p:spPr>
        <p:txBody>
          <a:bodyPr wrap="square" lIns="0" rIns="0" tIns="0" bIns="0" anchor="t">
            <a:spAutoFit/>
          </a:bodyPr>
          <a:lstStyle/>
          <a:p>
            <a:pPr algn="l"/>
            <a:r>
              <a:rPr sz="1100" b="1" i="0">
                <a:solidFill>
                  <a:srgbClr val="DCFF1E"/>
                </a:solidFill>
                <a:latin typeface="Space Mono"/>
              </a:rPr>
              <a:t>HEADLINE MESSAGE</a:t>
            </a:r>
          </a:p>
        </p:txBody>
      </p:sp>
      <p:sp>
        <p:nvSpPr>
          <p:cNvPr id="22" name="TextBox 21"/>
          <p:cNvSpPr txBox="1"/>
          <p:nvPr/>
        </p:nvSpPr>
        <p:spPr>
          <a:xfrm>
            <a:off x="6629400" y="3337560"/>
            <a:ext cx="4937760" cy="1645920"/>
          </a:xfrm>
          <a:prstGeom prst="rect">
            <a:avLst/>
          </a:prstGeom>
          <a:noFill/>
        </p:spPr>
        <p:txBody>
          <a:bodyPr wrap="square" lIns="0" rIns="0" tIns="0" bIns="0" anchor="t">
            <a:spAutoFit/>
          </a:bodyPr>
          <a:lstStyle/>
          <a:p>
            <a:pPr algn="l"/>
            <a:r>
              <a:rPr sz="1400" b="0" i="1">
                <a:solidFill>
                  <a:srgbClr val="FFFFFF"/>
                </a:solidFill>
                <a:latin typeface="Space Grotesk"/>
              </a:rPr>
              <a:t>“Multiply this ratio by your peak QPS to see how many Oracle cores you no longer need to license.”</a:t>
            </a:r>
          </a:p>
        </p:txBody>
      </p:sp>
      <p:sp>
        <p:nvSpPr>
          <p:cNvPr id="23" name="Rectangle 22"/>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LOOK HERE</a:t>
            </a:r>
          </a:p>
        </p:txBody>
      </p:sp>
      <p:sp>
        <p:nvSpPr>
          <p:cNvPr id="26" name="TextBox 25"/>
          <p:cNvSpPr txBox="1"/>
          <p:nvPr/>
        </p:nvSpPr>
        <p:spPr>
          <a:xfrm>
            <a:off x="777240" y="5669280"/>
            <a:ext cx="10972800" cy="640080"/>
          </a:xfrm>
          <a:prstGeom prst="rect">
            <a:avLst/>
          </a:prstGeom>
          <a:noFill/>
        </p:spPr>
        <p:txBody>
          <a:bodyPr wrap="square" lIns="0" rIns="0" tIns="0" bIns="0" anchor="t">
            <a:spAutoFit/>
          </a:bodyPr>
          <a:lstStyle/>
          <a:p>
            <a:pPr algn="l"/>
            <a:r>
              <a:rPr sz="1100" b="0" i="0">
                <a:solidFill>
                  <a:srgbClr val="163341"/>
                </a:solidFill>
                <a:latin typeface="Space Grotesk"/>
              </a:rPr>
              <a:t>■  Dashboard → Latency panel    ■  Postgres value    ■  Redis value    ■  Speedup x value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19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Rounded Rectangle 9"/>
          <p:cNvSpPr/>
          <p:nvPr/>
        </p:nvSpPr>
        <p:spPr>
          <a:xfrm>
            <a:off x="457200" y="777240"/>
            <a:ext cx="1828800" cy="384048"/>
          </a:xfrm>
          <a:prstGeom prst="roundRect">
            <a:avLst>
              <a:gd name="adj" fmla="val 50000"/>
            </a:avLst>
          </a:prstGeom>
          <a:solidFill>
            <a:srgbClr val="DCF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777240"/>
            <a:ext cx="1828800" cy="384048"/>
          </a:xfrm>
          <a:prstGeom prst="rect">
            <a:avLst/>
          </a:prstGeom>
          <a:noFill/>
        </p:spPr>
        <p:txBody>
          <a:bodyPr wrap="square" lIns="0" rIns="0" tIns="0" bIns="0" anchor="ctr">
            <a:spAutoFit/>
          </a:bodyPr>
          <a:lstStyle/>
          <a:p>
            <a:pPr algn="ctr"/>
            <a:r>
              <a:rPr sz="1200" b="1" i="0">
                <a:solidFill>
                  <a:srgbClr val="091A23"/>
                </a:solidFill>
                <a:latin typeface="Space Mono"/>
              </a:rPr>
              <a:t>SCENARIO 5</a:t>
            </a:r>
          </a:p>
        </p:txBody>
      </p:sp>
      <p:sp>
        <p:nvSpPr>
          <p:cNvPr id="12" name="TextBox 11"/>
          <p:cNvSpPr txBox="1"/>
          <p:nvPr/>
        </p:nvSpPr>
        <p:spPr>
          <a:xfrm>
            <a:off x="2423160" y="777240"/>
            <a:ext cx="3657600" cy="384048"/>
          </a:xfrm>
          <a:prstGeom prst="rect">
            <a:avLst/>
          </a:prstGeom>
          <a:noFill/>
        </p:spPr>
        <p:txBody>
          <a:bodyPr wrap="square" lIns="0" rIns="0" tIns="0" bIns="0" anchor="ctr">
            <a:spAutoFit/>
          </a:bodyPr>
          <a:lstStyle/>
          <a:p>
            <a:pPr algn="l"/>
            <a:r>
              <a:rPr sz="1200" b="0" i="0">
                <a:solidFill>
                  <a:srgbClr val="8A99A0"/>
                </a:solidFill>
                <a:latin typeface="Space Mono"/>
              </a:rPr>
              <a:t>~5 min</a:t>
            </a:r>
          </a:p>
        </p:txBody>
      </p:sp>
      <p:sp>
        <p:nvSpPr>
          <p:cNvPr id="13" name="TextBox 12"/>
          <p:cNvSpPr txBox="1"/>
          <p:nvPr/>
        </p:nvSpPr>
        <p:spPr>
          <a:xfrm>
            <a:off x="457200" y="1325880"/>
            <a:ext cx="11247120" cy="777240"/>
          </a:xfrm>
          <a:prstGeom prst="rect">
            <a:avLst/>
          </a:prstGeom>
          <a:noFill/>
        </p:spPr>
        <p:txBody>
          <a:bodyPr wrap="square" lIns="0" rIns="0" tIns="0" bIns="0" anchor="t">
            <a:spAutoFit/>
          </a:bodyPr>
          <a:lstStyle/>
          <a:p>
            <a:pPr algn="l"/>
            <a:r>
              <a:rPr sz="3200" b="1" i="0">
                <a:solidFill>
                  <a:srgbClr val="091A23"/>
                </a:solidFill>
                <a:latin typeface="Space Grotesk"/>
              </a:rPr>
              <a:t>Redis Insight — pipeline editor + live analytics</a:t>
            </a:r>
          </a:p>
        </p:txBody>
      </p:sp>
      <p:sp>
        <p:nvSpPr>
          <p:cNvPr id="14" name="TextBox 13"/>
          <p:cNvSpPr txBox="1"/>
          <p:nvPr/>
        </p:nvSpPr>
        <p:spPr>
          <a:xfrm>
            <a:off x="457200" y="2103120"/>
            <a:ext cx="11247120" cy="457200"/>
          </a:xfrm>
          <a:prstGeom prst="rect">
            <a:avLst/>
          </a:prstGeom>
          <a:noFill/>
        </p:spPr>
        <p:txBody>
          <a:bodyPr wrap="square" lIns="0" rIns="0" tIns="0" bIns="0" anchor="t">
            <a:spAutoFit/>
          </a:bodyPr>
          <a:lstStyle/>
          <a:p>
            <a:pPr algn="l"/>
            <a:r>
              <a:rPr sz="1500" b="0" i="1">
                <a:solidFill>
                  <a:srgbClr val="8A99A0"/>
                </a:solidFill>
                <a:latin typeface="Space Grotesk"/>
              </a:rPr>
              <a:t>The same tool your ops team will use in dev, staging, prod. Free with Redis Enterprise.</a:t>
            </a:r>
          </a:p>
        </p:txBody>
      </p:sp>
      <p:sp>
        <p:nvSpPr>
          <p:cNvPr id="15" name="Rectangle 14"/>
          <p:cNvSpPr/>
          <p:nvPr/>
        </p:nvSpPr>
        <p:spPr>
          <a:xfrm>
            <a:off x="457200" y="2697480"/>
            <a:ext cx="5486400" cy="246888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697480"/>
            <a:ext cx="164592" cy="246888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80360"/>
            <a:ext cx="4937760" cy="365760"/>
          </a:xfrm>
          <a:prstGeom prst="rect">
            <a:avLst/>
          </a:prstGeom>
          <a:noFill/>
        </p:spPr>
        <p:txBody>
          <a:bodyPr wrap="square" lIns="0" rIns="0" tIns="0" bIns="0" anchor="t">
            <a:spAutoFit/>
          </a:bodyPr>
          <a:lstStyle/>
          <a:p>
            <a:pPr algn="l"/>
            <a:r>
              <a:rPr sz="1100" b="1" i="0">
                <a:solidFill>
                  <a:srgbClr val="FF4438"/>
                </a:solidFill>
                <a:latin typeface="Space Mono"/>
              </a:rPr>
              <a:t>WHAT THE ROOM WILL SEE</a:t>
            </a:r>
          </a:p>
        </p:txBody>
      </p:sp>
      <p:sp>
        <p:nvSpPr>
          <p:cNvPr id="18" name="TextBox 17"/>
          <p:cNvSpPr txBox="1"/>
          <p:nvPr/>
        </p:nvSpPr>
        <p:spPr>
          <a:xfrm>
            <a:off x="822960" y="3337560"/>
            <a:ext cx="4937760" cy="164592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Insight: keys in target DB (holding, trades, price)</a:t>
            </a:r>
          </a:p>
          <a:p>
            <a:pPr algn="l">
              <a:spcAft>
                <a:spcPts val="600"/>
              </a:spcAft>
            </a:pPr>
            <a:r>
              <a:rPr sz="1000" b="1">
                <a:solidFill>
                  <a:srgbClr val="FF4438"/>
                </a:solidFill>
                <a:latin typeface="Space Mono"/>
              </a:rPr>
              <a:t>■  </a:t>
            </a:r>
            <a:r>
              <a:rPr sz="1200" b="0">
                <a:solidFill>
                  <a:srgbClr val="163341"/>
                </a:solidFill>
                <a:latin typeface="Space Grotesk"/>
              </a:rPr>
              <a:t>Insight: 5 CDC streams in the RDI state DB</a:t>
            </a:r>
          </a:p>
          <a:p>
            <a:pPr algn="l">
              <a:spcAft>
                <a:spcPts val="600"/>
              </a:spcAft>
            </a:pPr>
            <a:r>
              <a:rPr sz="1000" b="1">
                <a:solidFill>
                  <a:srgbClr val="FF4438"/>
                </a:solidFill>
                <a:latin typeface="Space Mono"/>
              </a:rPr>
              <a:t>■  </a:t>
            </a:r>
            <a:r>
              <a:rPr sz="1200" b="0">
                <a:solidFill>
                  <a:srgbClr val="163341"/>
                </a:solidFill>
                <a:latin typeface="Space Grotesk"/>
              </a:rPr>
              <a:t>Insight RDI tab: the deployed YAML pipeline</a:t>
            </a:r>
          </a:p>
          <a:p>
            <a:pPr algn="l">
              <a:spcAft>
                <a:spcPts val="600"/>
              </a:spcAft>
            </a:pPr>
            <a:r>
              <a:rPr sz="1000" b="1">
                <a:solidFill>
                  <a:srgbClr val="FF4438"/>
                </a:solidFill>
                <a:latin typeface="Space Mono"/>
              </a:rPr>
              <a:t>■  </a:t>
            </a:r>
            <a:r>
              <a:rPr sz="1200" b="0">
                <a:solidFill>
                  <a:srgbClr val="163341"/>
                </a:solidFill>
                <a:latin typeface="Space Grotesk"/>
              </a:rPr>
              <a:t>Insight RDI tab: Analytics view with live event counts</a:t>
            </a:r>
          </a:p>
        </p:txBody>
      </p:sp>
      <p:sp>
        <p:nvSpPr>
          <p:cNvPr id="19" name="Rectangle 18"/>
          <p:cNvSpPr/>
          <p:nvPr/>
        </p:nvSpPr>
        <p:spPr>
          <a:xfrm>
            <a:off x="6263640" y="2697480"/>
            <a:ext cx="5486400" cy="24688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2697480"/>
            <a:ext cx="164592" cy="2468880"/>
          </a:xfrm>
          <a:prstGeom prst="rect">
            <a:avLst/>
          </a:prstGeom>
          <a:solidFill>
            <a:srgbClr val="DCF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2880360"/>
            <a:ext cx="4937760" cy="365760"/>
          </a:xfrm>
          <a:prstGeom prst="rect">
            <a:avLst/>
          </a:prstGeom>
          <a:noFill/>
        </p:spPr>
        <p:txBody>
          <a:bodyPr wrap="square" lIns="0" rIns="0" tIns="0" bIns="0" anchor="t">
            <a:spAutoFit/>
          </a:bodyPr>
          <a:lstStyle/>
          <a:p>
            <a:pPr algn="l"/>
            <a:r>
              <a:rPr sz="1100" b="1" i="0">
                <a:solidFill>
                  <a:srgbClr val="DCFF1E"/>
                </a:solidFill>
                <a:latin typeface="Space Mono"/>
              </a:rPr>
              <a:t>HEADLINE MESSAGE</a:t>
            </a:r>
          </a:p>
        </p:txBody>
      </p:sp>
      <p:sp>
        <p:nvSpPr>
          <p:cNvPr id="22" name="TextBox 21"/>
          <p:cNvSpPr txBox="1"/>
          <p:nvPr/>
        </p:nvSpPr>
        <p:spPr>
          <a:xfrm>
            <a:off x="6629400" y="3337560"/>
            <a:ext cx="4937760" cy="1645920"/>
          </a:xfrm>
          <a:prstGeom prst="rect">
            <a:avLst/>
          </a:prstGeom>
          <a:noFill/>
        </p:spPr>
        <p:txBody>
          <a:bodyPr wrap="square" lIns="0" rIns="0" tIns="0" bIns="0" anchor="t">
            <a:spAutoFit/>
          </a:bodyPr>
          <a:lstStyle/>
          <a:p>
            <a:pPr algn="l"/>
            <a:r>
              <a:rPr sz="1400" b="0" i="1">
                <a:solidFill>
                  <a:srgbClr val="FFFFFF"/>
                </a:solidFill>
                <a:latin typeface="Space Grotesk"/>
              </a:rPr>
              <a:t>“The pipeline YAML is committed to git, Insight reads it via RDI's API, your platform team owns it end-to-end. No Kafka team. No bespoke UI.”</a:t>
            </a:r>
          </a:p>
        </p:txBody>
      </p:sp>
      <p:sp>
        <p:nvSpPr>
          <p:cNvPr id="23" name="Rectangle 22"/>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LOOK HERE</a:t>
            </a:r>
          </a:p>
        </p:txBody>
      </p:sp>
      <p:sp>
        <p:nvSpPr>
          <p:cNvPr id="26" name="TextBox 25"/>
          <p:cNvSpPr txBox="1"/>
          <p:nvPr/>
        </p:nvSpPr>
        <p:spPr>
          <a:xfrm>
            <a:off x="777240" y="5669280"/>
            <a:ext cx="10972800" cy="640080"/>
          </a:xfrm>
          <a:prstGeom prst="rect">
            <a:avLst/>
          </a:prstGeom>
          <a:noFill/>
        </p:spPr>
        <p:txBody>
          <a:bodyPr wrap="square" lIns="0" rIns="0" tIns="0" bIns="0" anchor="t">
            <a:spAutoFit/>
          </a:bodyPr>
          <a:lstStyle/>
          <a:p>
            <a:pPr algn="l"/>
            <a:r>
              <a:rPr sz="1100" b="0" i="0">
                <a:solidFill>
                  <a:srgbClr val="163341"/>
                </a:solidFill>
                <a:latin typeface="Space Grotesk"/>
              </a:rPr>
              <a:t>■  Insight → Browser    ■  Insight → Redis Data Integration tab    ■  Pipeline Management → editor    ■  Analytics → live throughput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92608"/>
            <a:ext cx="201168" cy="20116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01168"/>
            <a:ext cx="2743200" cy="365760"/>
          </a:xfrm>
          <a:prstGeom prst="rect">
            <a:avLst/>
          </a:prstGeom>
          <a:noFill/>
        </p:spPr>
        <p:txBody>
          <a:bodyPr wrap="square" lIns="0" rIns="0" tIns="0" bIns="0" anchor="t">
            <a:spAutoFit/>
          </a:bodyPr>
          <a:lstStyle/>
          <a:p>
            <a:pPr algn="l"/>
            <a:r>
              <a:rPr sz="1800" b="1" i="0">
                <a:solidFill>
                  <a:srgbClr val="091A23"/>
                </a:solidFill>
                <a:latin typeface="Space Grotesk"/>
              </a:rPr>
              <a:t>redis</a:t>
            </a:r>
          </a:p>
        </p:txBody>
      </p:sp>
      <p:sp>
        <p:nvSpPr>
          <p:cNvPr id="5" name="TextBox 4"/>
          <p:cNvSpPr txBox="1"/>
          <p:nvPr/>
        </p:nvSpPr>
        <p:spPr>
          <a:xfrm>
            <a:off x="1828800" y="274320"/>
            <a:ext cx="6400800" cy="274320"/>
          </a:xfrm>
          <a:prstGeom prst="rect">
            <a:avLst/>
          </a:prstGeom>
          <a:noFill/>
        </p:spPr>
        <p:txBody>
          <a:bodyPr wrap="square" lIns="0" rIns="0" tIns="0" bIns="0" anchor="t">
            <a:spAutoFit/>
          </a:bodyPr>
          <a:lstStyle/>
          <a:p>
            <a:pPr algn="l"/>
            <a:r>
              <a:rPr sz="1100" b="0" i="0">
                <a:solidFill>
                  <a:srgbClr val="8A99A0"/>
                </a:solidFill>
                <a:latin typeface="Space Grotesk"/>
              </a:rPr>
              <a:t>  |   Redis Data Integration  ·  HDFC Securities</a:t>
            </a:r>
          </a:p>
        </p:txBody>
      </p:sp>
      <p:sp>
        <p:nvSpPr>
          <p:cNvPr id="6" name="TextBox 5"/>
          <p:cNvSpPr txBox="1"/>
          <p:nvPr/>
        </p:nvSpPr>
        <p:spPr>
          <a:xfrm>
            <a:off x="10515600" y="274320"/>
            <a:ext cx="1371600" cy="274320"/>
          </a:xfrm>
          <a:prstGeom prst="rect">
            <a:avLst/>
          </a:prstGeom>
          <a:noFill/>
        </p:spPr>
        <p:txBody>
          <a:bodyPr wrap="square" lIns="0" rIns="0" tIns="0" bIns="0" anchor="t">
            <a:spAutoFit/>
          </a:bodyPr>
          <a:lstStyle/>
          <a:p>
            <a:pPr algn="r"/>
            <a:r>
              <a:rPr sz="1100" b="0" i="0">
                <a:solidFill>
                  <a:srgbClr val="8A99A0"/>
                </a:solidFill>
                <a:latin typeface="Space Mono"/>
              </a:rPr>
              <a:t>20 / 21</a:t>
            </a:r>
          </a:p>
        </p:txBody>
      </p:sp>
      <p:cxnSp>
        <p:nvCxnSpPr>
          <p:cNvPr id="7" name="Connector 6"/>
          <p:cNvCxnSpPr/>
          <p:nvPr/>
        </p:nvCxnSpPr>
        <p:spPr>
          <a:xfrm>
            <a:off x="457200" y="6400800"/>
            <a:ext cx="11274552" cy="0"/>
          </a:xfrm>
          <a:prstGeom prst="line">
            <a:avLst/>
          </a:prstGeom>
          <a:ln w="6350">
            <a:solidFill>
              <a:srgbClr val="B9C2C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900" b="0" i="0">
                <a:solidFill>
                  <a:srgbClr val="8A99A0"/>
                </a:solidFill>
                <a:latin typeface="Space Grotesk"/>
              </a:rPr>
              <a:t>Confidential  ·  prepared for HDFC Securities</a:t>
            </a:r>
          </a:p>
        </p:txBody>
      </p:sp>
      <p:sp>
        <p:nvSpPr>
          <p:cNvPr id="9" name="TextBox 8"/>
          <p:cNvSpPr txBox="1"/>
          <p:nvPr/>
        </p:nvSpPr>
        <p:spPr>
          <a:xfrm>
            <a:off x="7772400" y="6446520"/>
            <a:ext cx="4114800" cy="274320"/>
          </a:xfrm>
          <a:prstGeom prst="rect">
            <a:avLst/>
          </a:prstGeom>
          <a:noFill/>
        </p:spPr>
        <p:txBody>
          <a:bodyPr wrap="square" lIns="0" rIns="0" tIns="0" bIns="0" anchor="t">
            <a:spAutoFit/>
          </a:bodyPr>
          <a:lstStyle/>
          <a:p>
            <a:pPr algn="r"/>
            <a:r>
              <a:rPr sz="900" b="0" i="0">
                <a:solidFill>
                  <a:srgbClr val="8A99A0"/>
                </a:solidFill>
                <a:latin typeface="Space Mono"/>
              </a:rPr>
              <a:t>redis.io/integrate/redis-data-integration</a:t>
            </a:r>
          </a:p>
        </p:txBody>
      </p:sp>
      <p:sp>
        <p:nvSpPr>
          <p:cNvPr id="10" name="Rounded Rectangle 9"/>
          <p:cNvSpPr/>
          <p:nvPr/>
        </p:nvSpPr>
        <p:spPr>
          <a:xfrm>
            <a:off x="457200" y="777240"/>
            <a:ext cx="1828800" cy="384048"/>
          </a:xfrm>
          <a:prstGeom prst="roundRect">
            <a:avLst>
              <a:gd name="adj" fmla="val 50000"/>
            </a:avLst>
          </a:prstGeom>
          <a:solidFill>
            <a:srgbClr val="DCF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777240"/>
            <a:ext cx="1828800" cy="384048"/>
          </a:xfrm>
          <a:prstGeom prst="rect">
            <a:avLst/>
          </a:prstGeom>
          <a:noFill/>
        </p:spPr>
        <p:txBody>
          <a:bodyPr wrap="square" lIns="0" rIns="0" tIns="0" bIns="0" anchor="ctr">
            <a:spAutoFit/>
          </a:bodyPr>
          <a:lstStyle/>
          <a:p>
            <a:pPr algn="ctr"/>
            <a:r>
              <a:rPr sz="1200" b="1" i="0">
                <a:solidFill>
                  <a:srgbClr val="091A23"/>
                </a:solidFill>
                <a:latin typeface="Space Mono"/>
              </a:rPr>
              <a:t>SCENARIO 6</a:t>
            </a:r>
          </a:p>
        </p:txBody>
      </p:sp>
      <p:sp>
        <p:nvSpPr>
          <p:cNvPr id="12" name="TextBox 11"/>
          <p:cNvSpPr txBox="1"/>
          <p:nvPr/>
        </p:nvSpPr>
        <p:spPr>
          <a:xfrm>
            <a:off x="2423160" y="777240"/>
            <a:ext cx="3657600" cy="384048"/>
          </a:xfrm>
          <a:prstGeom prst="rect">
            <a:avLst/>
          </a:prstGeom>
          <a:noFill/>
        </p:spPr>
        <p:txBody>
          <a:bodyPr wrap="square" lIns="0" rIns="0" tIns="0" bIns="0" anchor="ctr">
            <a:spAutoFit/>
          </a:bodyPr>
          <a:lstStyle/>
          <a:p>
            <a:pPr algn="l"/>
            <a:r>
              <a:rPr sz="1200" b="0" i="0">
                <a:solidFill>
                  <a:srgbClr val="8A99A0"/>
                </a:solidFill>
                <a:latin typeface="Space Mono"/>
              </a:rPr>
              <a:t>~4 min</a:t>
            </a:r>
          </a:p>
        </p:txBody>
      </p:sp>
      <p:sp>
        <p:nvSpPr>
          <p:cNvPr id="13" name="TextBox 12"/>
          <p:cNvSpPr txBox="1"/>
          <p:nvPr/>
        </p:nvSpPr>
        <p:spPr>
          <a:xfrm>
            <a:off x="457200" y="1325880"/>
            <a:ext cx="11247120" cy="777240"/>
          </a:xfrm>
          <a:prstGeom prst="rect">
            <a:avLst/>
          </a:prstGeom>
          <a:noFill/>
        </p:spPr>
        <p:txBody>
          <a:bodyPr wrap="square" lIns="0" rIns="0" tIns="0" bIns="0" anchor="t">
            <a:spAutoFit/>
          </a:bodyPr>
          <a:lstStyle/>
          <a:p>
            <a:pPr algn="l"/>
            <a:r>
              <a:rPr sz="3200" b="1" i="0">
                <a:solidFill>
                  <a:srgbClr val="091A23"/>
                </a:solidFill>
                <a:latin typeface="Space Grotesk"/>
              </a:rPr>
              <a:t>Schema change handling — add a column, no restart</a:t>
            </a:r>
          </a:p>
        </p:txBody>
      </p:sp>
      <p:sp>
        <p:nvSpPr>
          <p:cNvPr id="14" name="TextBox 13"/>
          <p:cNvSpPr txBox="1"/>
          <p:nvPr/>
        </p:nvSpPr>
        <p:spPr>
          <a:xfrm>
            <a:off x="457200" y="2103120"/>
            <a:ext cx="11247120" cy="457200"/>
          </a:xfrm>
          <a:prstGeom prst="rect">
            <a:avLst/>
          </a:prstGeom>
          <a:noFill/>
        </p:spPr>
        <p:txBody>
          <a:bodyPr wrap="square" lIns="0" rIns="0" tIns="0" bIns="0" anchor="t">
            <a:spAutoFit/>
          </a:bodyPr>
          <a:lstStyle/>
          <a:p>
            <a:pPr algn="l"/>
            <a:r>
              <a:rPr sz="1500" b="0" i="1">
                <a:solidFill>
                  <a:srgbClr val="8A99A0"/>
                </a:solidFill>
                <a:latin typeface="Space Grotesk"/>
              </a:rPr>
              <a:t>ALTER TABLE in Postgres → next UPDATE flows to Redis automatically.</a:t>
            </a:r>
          </a:p>
        </p:txBody>
      </p:sp>
      <p:sp>
        <p:nvSpPr>
          <p:cNvPr id="15" name="Rectangle 14"/>
          <p:cNvSpPr/>
          <p:nvPr/>
        </p:nvSpPr>
        <p:spPr>
          <a:xfrm>
            <a:off x="457200" y="2697480"/>
            <a:ext cx="5486400" cy="2468880"/>
          </a:xfrm>
          <a:prstGeom prst="rect">
            <a:avLst/>
          </a:prstGeom>
          <a:solidFill>
            <a:srgbClr val="FFFFFF"/>
          </a:solidFill>
          <a:ln w="9525">
            <a:solidFill>
              <a:srgbClr val="B9C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697480"/>
            <a:ext cx="164592" cy="246888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80360"/>
            <a:ext cx="4937760" cy="365760"/>
          </a:xfrm>
          <a:prstGeom prst="rect">
            <a:avLst/>
          </a:prstGeom>
          <a:noFill/>
        </p:spPr>
        <p:txBody>
          <a:bodyPr wrap="square" lIns="0" rIns="0" tIns="0" bIns="0" anchor="t">
            <a:spAutoFit/>
          </a:bodyPr>
          <a:lstStyle/>
          <a:p>
            <a:pPr algn="l"/>
            <a:r>
              <a:rPr sz="1100" b="1" i="0">
                <a:solidFill>
                  <a:srgbClr val="FF4438"/>
                </a:solidFill>
                <a:latin typeface="Space Mono"/>
              </a:rPr>
              <a:t>WHAT THE ROOM WILL SEE</a:t>
            </a:r>
          </a:p>
        </p:txBody>
      </p:sp>
      <p:sp>
        <p:nvSpPr>
          <p:cNvPr id="18" name="TextBox 17"/>
          <p:cNvSpPr txBox="1"/>
          <p:nvPr/>
        </p:nvSpPr>
        <p:spPr>
          <a:xfrm>
            <a:off x="822960" y="3337560"/>
            <a:ext cx="4937760" cy="1645920"/>
          </a:xfrm>
          <a:prstGeom prst="rect">
            <a:avLst/>
          </a:prstGeom>
          <a:noFill/>
        </p:spPr>
        <p:txBody>
          <a:bodyPr wrap="square" lIns="0" tIns="0">
            <a:spAutoFit/>
          </a:bodyPr>
          <a:lstStyle/>
          <a:p>
            <a:pPr algn="l">
              <a:spcAft>
                <a:spcPts val="600"/>
              </a:spcAft>
            </a:pPr>
            <a:r>
              <a:rPr sz="1000" b="1">
                <a:solidFill>
                  <a:srgbClr val="FF4438"/>
                </a:solidFill>
                <a:latin typeface="Space Mono"/>
              </a:rPr>
              <a:t>■  </a:t>
            </a:r>
            <a:r>
              <a:rPr sz="1200" b="0">
                <a:solidFill>
                  <a:srgbClr val="163341"/>
                </a:solidFill>
                <a:latin typeface="Space Grotesk"/>
              </a:rPr>
              <a:t>ALTER TABLE portfolio.holding ADD COLUMN strategy_tag</a:t>
            </a:r>
          </a:p>
          <a:p>
            <a:pPr algn="l">
              <a:spcAft>
                <a:spcPts val="600"/>
              </a:spcAft>
            </a:pPr>
            <a:r>
              <a:rPr sz="1000" b="1">
                <a:solidFill>
                  <a:srgbClr val="FF4438"/>
                </a:solidFill>
                <a:latin typeface="Space Mono"/>
              </a:rPr>
              <a:t>■  </a:t>
            </a:r>
            <a:r>
              <a:rPr sz="1200" b="0">
                <a:solidFill>
                  <a:srgbClr val="163341"/>
                </a:solidFill>
                <a:latin typeface="Space Grotesk"/>
              </a:rPr>
              <a:t>Single UPDATE that touches customer 10001 rows</a:t>
            </a:r>
          </a:p>
          <a:p>
            <a:pPr algn="l">
              <a:spcAft>
                <a:spcPts val="600"/>
              </a:spcAft>
            </a:pPr>
            <a:r>
              <a:rPr sz="1000" b="1">
                <a:solidFill>
                  <a:srgbClr val="FF4438"/>
                </a:solidFill>
                <a:latin typeface="Space Mono"/>
              </a:rPr>
              <a:t>■  </a:t>
            </a:r>
            <a:r>
              <a:rPr sz="1200" b="0">
                <a:solidFill>
                  <a:srgbClr val="163341"/>
                </a:solidFill>
                <a:latin typeface="Space Grotesk"/>
              </a:rPr>
              <a:t>redis-cli JSON.GET → new field present, no other change</a:t>
            </a:r>
          </a:p>
          <a:p>
            <a:pPr algn="l">
              <a:spcAft>
                <a:spcPts val="600"/>
              </a:spcAft>
            </a:pPr>
            <a:r>
              <a:rPr sz="1000" b="1">
                <a:solidFill>
                  <a:srgbClr val="FF4438"/>
                </a:solidFill>
                <a:latin typeface="Space Mono"/>
              </a:rPr>
              <a:t>■  </a:t>
            </a:r>
            <a:r>
              <a:rPr sz="1200" b="0">
                <a:solidFill>
                  <a:srgbClr val="163341"/>
                </a:solidFill>
                <a:latin typeface="Space Grotesk"/>
              </a:rPr>
              <a:t>No pipeline reset, no deploy, no downtime</a:t>
            </a:r>
          </a:p>
        </p:txBody>
      </p:sp>
      <p:sp>
        <p:nvSpPr>
          <p:cNvPr id="19" name="Rectangle 18"/>
          <p:cNvSpPr/>
          <p:nvPr/>
        </p:nvSpPr>
        <p:spPr>
          <a:xfrm>
            <a:off x="6263640" y="2697480"/>
            <a:ext cx="5486400" cy="246888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2697480"/>
            <a:ext cx="164592" cy="2468880"/>
          </a:xfrm>
          <a:prstGeom prst="rect">
            <a:avLst/>
          </a:prstGeom>
          <a:solidFill>
            <a:srgbClr val="DCF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2880360"/>
            <a:ext cx="4937760" cy="365760"/>
          </a:xfrm>
          <a:prstGeom prst="rect">
            <a:avLst/>
          </a:prstGeom>
          <a:noFill/>
        </p:spPr>
        <p:txBody>
          <a:bodyPr wrap="square" lIns="0" rIns="0" tIns="0" bIns="0" anchor="t">
            <a:spAutoFit/>
          </a:bodyPr>
          <a:lstStyle/>
          <a:p>
            <a:pPr algn="l"/>
            <a:r>
              <a:rPr sz="1100" b="1" i="0">
                <a:solidFill>
                  <a:srgbClr val="DCFF1E"/>
                </a:solidFill>
                <a:latin typeface="Space Mono"/>
              </a:rPr>
              <a:t>HEADLINE MESSAGE</a:t>
            </a:r>
          </a:p>
        </p:txBody>
      </p:sp>
      <p:sp>
        <p:nvSpPr>
          <p:cNvPr id="22" name="TextBox 21"/>
          <p:cNvSpPr txBox="1"/>
          <p:nvPr/>
        </p:nvSpPr>
        <p:spPr>
          <a:xfrm>
            <a:off x="6629400" y="3337560"/>
            <a:ext cx="4937760" cy="1645920"/>
          </a:xfrm>
          <a:prstGeom prst="rect">
            <a:avLst/>
          </a:prstGeom>
          <a:noFill/>
        </p:spPr>
        <p:txBody>
          <a:bodyPr wrap="square" lIns="0" rIns="0" tIns="0" bIns="0" anchor="t">
            <a:spAutoFit/>
          </a:bodyPr>
          <a:lstStyle/>
          <a:p>
            <a:pPr algn="l"/>
            <a:r>
              <a:rPr sz="1400" b="0" i="1">
                <a:solidFill>
                  <a:srgbClr val="FFFFFF"/>
                </a:solidFill>
                <a:latin typeface="Space Grotesk"/>
              </a:rPr>
              <a:t>“New columns flow through automatically. If you need to EXCLUDE a column (PII, PAN), you add a 3-line transformation to the YAML. That's it.”</a:t>
            </a:r>
          </a:p>
        </p:txBody>
      </p:sp>
      <p:sp>
        <p:nvSpPr>
          <p:cNvPr id="23" name="Rectangle 22"/>
          <p:cNvSpPr/>
          <p:nvPr/>
        </p:nvSpPr>
        <p:spPr>
          <a:xfrm>
            <a:off x="457200" y="5349240"/>
            <a:ext cx="54864" cy="96012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 y="5349240"/>
            <a:ext cx="11219688" cy="960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422392"/>
            <a:ext cx="10972800" cy="274320"/>
          </a:xfrm>
          <a:prstGeom prst="rect">
            <a:avLst/>
          </a:prstGeom>
          <a:noFill/>
        </p:spPr>
        <p:txBody>
          <a:bodyPr wrap="square" lIns="0" rIns="0" tIns="0" bIns="0" anchor="t">
            <a:spAutoFit/>
          </a:bodyPr>
          <a:lstStyle/>
          <a:p>
            <a:pPr algn="l"/>
            <a:r>
              <a:rPr sz="900" b="1" i="0">
                <a:solidFill>
                  <a:srgbClr val="FF4438"/>
                </a:solidFill>
                <a:latin typeface="Space Mono"/>
              </a:rPr>
              <a:t>LOOK HERE</a:t>
            </a:r>
          </a:p>
        </p:txBody>
      </p:sp>
      <p:sp>
        <p:nvSpPr>
          <p:cNvPr id="26" name="TextBox 25"/>
          <p:cNvSpPr txBox="1"/>
          <p:nvPr/>
        </p:nvSpPr>
        <p:spPr>
          <a:xfrm>
            <a:off x="777240" y="5669280"/>
            <a:ext cx="10972800" cy="640080"/>
          </a:xfrm>
          <a:prstGeom prst="rect">
            <a:avLst/>
          </a:prstGeom>
          <a:noFill/>
        </p:spPr>
        <p:txBody>
          <a:bodyPr wrap="square" lIns="0" rIns="0" tIns="0" bIns="0" anchor="t">
            <a:spAutoFit/>
          </a:bodyPr>
          <a:lstStyle/>
          <a:p>
            <a:pPr algn="l"/>
            <a:r>
              <a:rPr sz="1100" b="0" i="0">
                <a:solidFill>
                  <a:srgbClr val="163341"/>
                </a:solidFill>
                <a:latin typeface="Space Grotesk"/>
              </a:rPr>
              <a:t>■  psql terminal — ALTER + UPDATE    ■  redis-cli JSON.GET output    ■  'strategy_tag' field in the JSON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256032" cy="256032"/>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292608"/>
            <a:ext cx="2743200" cy="457200"/>
          </a:xfrm>
          <a:prstGeom prst="rect">
            <a:avLst/>
          </a:prstGeom>
          <a:noFill/>
        </p:spPr>
        <p:txBody>
          <a:bodyPr wrap="square" lIns="0" rIns="0" tIns="0" bIns="0" anchor="t">
            <a:spAutoFit/>
          </a:bodyPr>
          <a:lstStyle/>
          <a:p>
            <a:pPr algn="l"/>
            <a:r>
              <a:rPr sz="2400" b="1" i="0">
                <a:solidFill>
                  <a:srgbClr val="FFFFFF"/>
                </a:solidFill>
                <a:latin typeface="Space Grotesk"/>
              </a:rPr>
              <a:t>redis</a:t>
            </a:r>
          </a:p>
        </p:txBody>
      </p:sp>
      <p:sp>
        <p:nvSpPr>
          <p:cNvPr id="5" name="TextBox 4"/>
          <p:cNvSpPr txBox="1"/>
          <p:nvPr/>
        </p:nvSpPr>
        <p:spPr>
          <a:xfrm>
            <a:off x="10515600" y="365760"/>
            <a:ext cx="1371600" cy="274320"/>
          </a:xfrm>
          <a:prstGeom prst="rect">
            <a:avLst/>
          </a:prstGeom>
          <a:noFill/>
        </p:spPr>
        <p:txBody>
          <a:bodyPr wrap="square" lIns="0" rIns="0" tIns="0" bIns="0" anchor="t">
            <a:spAutoFit/>
          </a:bodyPr>
          <a:lstStyle/>
          <a:p>
            <a:pPr algn="r"/>
            <a:r>
              <a:rPr sz="1100" b="0" i="0">
                <a:solidFill>
                  <a:srgbClr val="8A99A0"/>
                </a:solidFill>
                <a:latin typeface="Space Mono"/>
              </a:rPr>
              <a:t>21 / 21</a:t>
            </a:r>
          </a:p>
        </p:txBody>
      </p:sp>
      <p:sp>
        <p:nvSpPr>
          <p:cNvPr id="6" name="Rounded Rectangle 5"/>
          <p:cNvSpPr/>
          <p:nvPr/>
        </p:nvSpPr>
        <p:spPr>
          <a:xfrm>
            <a:off x="548640" y="1463040"/>
            <a:ext cx="1828800" cy="411480"/>
          </a:xfrm>
          <a:prstGeom prst="roundRect">
            <a:avLst>
              <a:gd name="adj" fmla="val 50000"/>
            </a:avLst>
          </a:prstGeom>
          <a:solidFill>
            <a:srgbClr val="DCF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1828800" cy="411480"/>
          </a:xfrm>
          <a:prstGeom prst="rect">
            <a:avLst/>
          </a:prstGeom>
          <a:noFill/>
        </p:spPr>
        <p:txBody>
          <a:bodyPr wrap="square" lIns="0" rIns="0" tIns="0" bIns="0" anchor="ctr">
            <a:spAutoFit/>
          </a:bodyPr>
          <a:lstStyle/>
          <a:p>
            <a:pPr algn="ctr"/>
            <a:r>
              <a:rPr sz="1200" b="1" i="0">
                <a:solidFill>
                  <a:srgbClr val="091A23"/>
                </a:solidFill>
                <a:latin typeface="Space Mono"/>
              </a:rPr>
              <a:t>Q &amp; A  ·  WRAP</a:t>
            </a:r>
          </a:p>
        </p:txBody>
      </p:sp>
      <p:sp>
        <p:nvSpPr>
          <p:cNvPr id="8" name="TextBox 7"/>
          <p:cNvSpPr txBox="1"/>
          <p:nvPr/>
        </p:nvSpPr>
        <p:spPr>
          <a:xfrm>
            <a:off x="548640" y="2011680"/>
            <a:ext cx="10972800" cy="1005840"/>
          </a:xfrm>
          <a:prstGeom prst="rect">
            <a:avLst/>
          </a:prstGeom>
          <a:noFill/>
        </p:spPr>
        <p:txBody>
          <a:bodyPr wrap="square" lIns="0" rIns="0" tIns="0" bIns="0" anchor="t">
            <a:spAutoFit/>
          </a:bodyPr>
          <a:lstStyle/>
          <a:p>
            <a:pPr algn="l"/>
            <a:r>
              <a:rPr sz="4200" b="1" i="0">
                <a:solidFill>
                  <a:srgbClr val="FFFFFF"/>
                </a:solidFill>
                <a:latin typeface="Space Grotesk"/>
              </a:rPr>
              <a:t>Three numbers we'll hand you at end of PoC.</a:t>
            </a:r>
          </a:p>
        </p:txBody>
      </p:sp>
      <p:sp>
        <p:nvSpPr>
          <p:cNvPr id="9" name="Rectangle 8"/>
          <p:cNvSpPr/>
          <p:nvPr/>
        </p:nvSpPr>
        <p:spPr>
          <a:xfrm>
            <a:off x="548640" y="3063240"/>
            <a:ext cx="1463040" cy="6400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383280"/>
            <a:ext cx="3657600" cy="1097280"/>
          </a:xfrm>
          <a:prstGeom prst="rect">
            <a:avLst/>
          </a:prstGeom>
          <a:noFill/>
        </p:spPr>
        <p:txBody>
          <a:bodyPr wrap="square" lIns="0" rIns="0" tIns="0" bIns="0" anchor="t">
            <a:spAutoFit/>
          </a:bodyPr>
          <a:lstStyle/>
          <a:p>
            <a:pPr algn="l"/>
            <a:r>
              <a:rPr sz="5800" b="1" i="0">
                <a:solidFill>
                  <a:srgbClr val="DCFF1E"/>
                </a:solidFill>
                <a:latin typeface="Space Grotesk"/>
              </a:rPr>
              <a:t>P95</a:t>
            </a:r>
          </a:p>
        </p:txBody>
      </p:sp>
      <p:sp>
        <p:nvSpPr>
          <p:cNvPr id="11" name="TextBox 10"/>
          <p:cNvSpPr txBox="1"/>
          <p:nvPr/>
        </p:nvSpPr>
        <p:spPr>
          <a:xfrm>
            <a:off x="548640" y="4434840"/>
            <a:ext cx="3657600" cy="365760"/>
          </a:xfrm>
          <a:prstGeom prst="rect">
            <a:avLst/>
          </a:prstGeom>
          <a:noFill/>
        </p:spPr>
        <p:txBody>
          <a:bodyPr wrap="square" lIns="0" rIns="0" tIns="0" bIns="0" anchor="t">
            <a:spAutoFit/>
          </a:bodyPr>
          <a:lstStyle/>
          <a:p>
            <a:pPr algn="l"/>
            <a:r>
              <a:rPr sz="1400" b="1" i="0">
                <a:solidFill>
                  <a:srgbClr val="FFFFFF"/>
                </a:solidFill>
                <a:latin typeface="Space Mono"/>
              </a:rPr>
              <a:t>PORTFOLIO READ LATENCY</a:t>
            </a:r>
          </a:p>
        </p:txBody>
      </p:sp>
      <p:sp>
        <p:nvSpPr>
          <p:cNvPr id="12" name="TextBox 11"/>
          <p:cNvSpPr txBox="1"/>
          <p:nvPr/>
        </p:nvSpPr>
        <p:spPr>
          <a:xfrm>
            <a:off x="548640" y="4754880"/>
            <a:ext cx="3657600" cy="1371600"/>
          </a:xfrm>
          <a:prstGeom prst="rect">
            <a:avLst/>
          </a:prstGeom>
          <a:noFill/>
        </p:spPr>
        <p:txBody>
          <a:bodyPr wrap="square" lIns="0" rIns="0" tIns="0" bIns="0" anchor="t">
            <a:spAutoFit/>
          </a:bodyPr>
          <a:lstStyle/>
          <a:p>
            <a:pPr algn="l"/>
            <a:r>
              <a:rPr sz="1200" b="0" i="0">
                <a:solidFill>
                  <a:srgbClr val="B9C2C6"/>
                </a:solidFill>
                <a:latin typeface="Space Grotesk"/>
              </a:rPr>
              <a:t>Measured before and after RDI cutover, on your production-equivalent UAT load.</a:t>
            </a:r>
          </a:p>
        </p:txBody>
      </p:sp>
      <p:sp>
        <p:nvSpPr>
          <p:cNvPr id="13" name="TextBox 12"/>
          <p:cNvSpPr txBox="1"/>
          <p:nvPr/>
        </p:nvSpPr>
        <p:spPr>
          <a:xfrm>
            <a:off x="4572000" y="3383280"/>
            <a:ext cx="3657600" cy="1097280"/>
          </a:xfrm>
          <a:prstGeom prst="rect">
            <a:avLst/>
          </a:prstGeom>
          <a:noFill/>
        </p:spPr>
        <p:txBody>
          <a:bodyPr wrap="square" lIns="0" rIns="0" tIns="0" bIns="0" anchor="t">
            <a:spAutoFit/>
          </a:bodyPr>
          <a:lstStyle/>
          <a:p>
            <a:pPr algn="l"/>
            <a:r>
              <a:rPr sz="5800" b="1" i="0">
                <a:solidFill>
                  <a:srgbClr val="DCFF1E"/>
                </a:solidFill>
                <a:latin typeface="Space Grotesk"/>
              </a:rPr>
              <a:t>%↓</a:t>
            </a:r>
          </a:p>
        </p:txBody>
      </p:sp>
      <p:sp>
        <p:nvSpPr>
          <p:cNvPr id="14" name="TextBox 13"/>
          <p:cNvSpPr txBox="1"/>
          <p:nvPr/>
        </p:nvSpPr>
        <p:spPr>
          <a:xfrm>
            <a:off x="4572000" y="4434840"/>
            <a:ext cx="3657600" cy="365760"/>
          </a:xfrm>
          <a:prstGeom prst="rect">
            <a:avLst/>
          </a:prstGeom>
          <a:noFill/>
        </p:spPr>
        <p:txBody>
          <a:bodyPr wrap="square" lIns="0" rIns="0" tIns="0" bIns="0" anchor="t">
            <a:spAutoFit/>
          </a:bodyPr>
          <a:lstStyle/>
          <a:p>
            <a:pPr algn="l"/>
            <a:r>
              <a:rPr sz="1400" b="1" i="0">
                <a:solidFill>
                  <a:srgbClr val="FFFFFF"/>
                </a:solidFill>
                <a:latin typeface="Space Mono"/>
              </a:rPr>
              <a:t>ORACLE CPU REDUCTION</a:t>
            </a:r>
          </a:p>
        </p:txBody>
      </p:sp>
      <p:sp>
        <p:nvSpPr>
          <p:cNvPr id="15" name="TextBox 14"/>
          <p:cNvSpPr txBox="1"/>
          <p:nvPr/>
        </p:nvSpPr>
        <p:spPr>
          <a:xfrm>
            <a:off x="4572000" y="4754880"/>
            <a:ext cx="3657600" cy="1371600"/>
          </a:xfrm>
          <a:prstGeom prst="rect">
            <a:avLst/>
          </a:prstGeom>
          <a:noFill/>
        </p:spPr>
        <p:txBody>
          <a:bodyPr wrap="square" lIns="0" rIns="0" tIns="0" bIns="0" anchor="t">
            <a:spAutoFit/>
          </a:bodyPr>
          <a:lstStyle/>
          <a:p>
            <a:pPr algn="l"/>
            <a:r>
              <a:rPr sz="1200" b="0" i="0">
                <a:solidFill>
                  <a:srgbClr val="B9C2C6"/>
                </a:solidFill>
                <a:latin typeface="Space Grotesk"/>
              </a:rPr>
              <a:t>Hot-path Portfolio reads moved off Oracle. Direct input to your DBA licensing model.</a:t>
            </a:r>
          </a:p>
        </p:txBody>
      </p:sp>
      <p:sp>
        <p:nvSpPr>
          <p:cNvPr id="16" name="TextBox 15"/>
          <p:cNvSpPr txBox="1"/>
          <p:nvPr/>
        </p:nvSpPr>
        <p:spPr>
          <a:xfrm>
            <a:off x="8595360" y="3383280"/>
            <a:ext cx="3657600" cy="1097280"/>
          </a:xfrm>
          <a:prstGeom prst="rect">
            <a:avLst/>
          </a:prstGeom>
          <a:noFill/>
        </p:spPr>
        <p:txBody>
          <a:bodyPr wrap="square" lIns="0" rIns="0" tIns="0" bIns="0" anchor="t">
            <a:spAutoFit/>
          </a:bodyPr>
          <a:lstStyle/>
          <a:p>
            <a:pPr algn="l"/>
            <a:r>
              <a:rPr sz="5800" b="1" i="0">
                <a:solidFill>
                  <a:srgbClr val="DCFF1E"/>
                </a:solidFill>
                <a:latin typeface="Space Grotesk"/>
              </a:rPr>
              <a:t>h/wk</a:t>
            </a:r>
          </a:p>
        </p:txBody>
      </p:sp>
      <p:sp>
        <p:nvSpPr>
          <p:cNvPr id="17" name="TextBox 16"/>
          <p:cNvSpPr txBox="1"/>
          <p:nvPr/>
        </p:nvSpPr>
        <p:spPr>
          <a:xfrm>
            <a:off x="8595360" y="4434840"/>
            <a:ext cx="3657600" cy="365760"/>
          </a:xfrm>
          <a:prstGeom prst="rect">
            <a:avLst/>
          </a:prstGeom>
          <a:noFill/>
        </p:spPr>
        <p:txBody>
          <a:bodyPr wrap="square" lIns="0" rIns="0" tIns="0" bIns="0" anchor="t">
            <a:spAutoFit/>
          </a:bodyPr>
          <a:lstStyle/>
          <a:p>
            <a:pPr algn="l"/>
            <a:r>
              <a:rPr sz="1400" b="1" i="0">
                <a:solidFill>
                  <a:srgbClr val="FFFFFF"/>
                </a:solidFill>
                <a:latin typeface="Space Mono"/>
              </a:rPr>
              <a:t>ENGINEERING TIME RECLAIMED</a:t>
            </a:r>
          </a:p>
        </p:txBody>
      </p:sp>
      <p:sp>
        <p:nvSpPr>
          <p:cNvPr id="18" name="TextBox 17"/>
          <p:cNvSpPr txBox="1"/>
          <p:nvPr/>
        </p:nvSpPr>
        <p:spPr>
          <a:xfrm>
            <a:off x="8595360" y="4754880"/>
            <a:ext cx="3657600" cy="1371600"/>
          </a:xfrm>
          <a:prstGeom prst="rect">
            <a:avLst/>
          </a:prstGeom>
          <a:noFill/>
        </p:spPr>
        <p:txBody>
          <a:bodyPr wrap="square" lIns="0" rIns="0" tIns="0" bIns="0" anchor="t">
            <a:spAutoFit/>
          </a:bodyPr>
          <a:lstStyle/>
          <a:p>
            <a:pPr algn="l"/>
            <a:r>
              <a:rPr sz="1200" b="0" i="0">
                <a:solidFill>
                  <a:srgbClr val="B9C2C6"/>
                </a:solidFill>
                <a:latin typeface="Space Grotesk"/>
              </a:rPr>
              <a:t>Hours your senior engineer stops spending on cache-aside plumbing across 6 repos.</a:t>
            </a:r>
          </a:p>
        </p:txBody>
      </p:sp>
      <p:sp>
        <p:nvSpPr>
          <p:cNvPr id="19" name="Rectangle 18"/>
          <p:cNvSpPr/>
          <p:nvPr/>
        </p:nvSpPr>
        <p:spPr>
          <a:xfrm>
            <a:off x="457200" y="6126480"/>
            <a:ext cx="11247120" cy="45720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126480"/>
            <a:ext cx="11247120" cy="457200"/>
          </a:xfrm>
          <a:prstGeom prst="rect">
            <a:avLst/>
          </a:prstGeom>
          <a:noFill/>
        </p:spPr>
        <p:txBody>
          <a:bodyPr wrap="square" lIns="0" rIns="0" tIns="0" bIns="0" anchor="ctr">
            <a:spAutoFit/>
          </a:bodyPr>
          <a:lstStyle/>
          <a:p>
            <a:pPr algn="ctr"/>
            <a:r>
              <a:rPr sz="1300" b="1" i="0">
                <a:solidFill>
                  <a:srgbClr val="FFFFFF"/>
                </a:solidFill>
                <a:latin typeface="Space Grotesk"/>
              </a:rPr>
              <a:t>Redis SA assigned to your PoC at no cost  ·  All artefacts produced are yours to keep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